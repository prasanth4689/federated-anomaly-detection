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 lIns="54864" rIns="54864" tIns="54864" bIns="54864">
            <a:spAutoFit/>
          </a:bodyPr>
          <a:lstStyle/>
          <a:p>
            <a:pPr algn="ctr">
              <a:defRPr sz="1800" b="1">
                <a:solidFill>
                  <a:srgbClr val="103460"/>
                </a:solidFill>
                <a:latin typeface="Calibri"/>
              </a:defRPr>
            </a:pPr>
            <a:r>
              <a:t>B.Tech. CSE (Specialization: Information Security)</a:t>
            </a:r>
            <a:br/>
            <a:r>
              <a:t>BCSE497J – Project-I</a:t>
            </a:r>
          </a:p>
          <a:p>
            <a:pPr algn="ctr">
              <a:defRPr sz="2600" b="1">
                <a:solidFill>
                  <a:srgbClr val="002B5C"/>
                </a:solidFill>
                <a:latin typeface="Times New Roman"/>
              </a:defRPr>
            </a:pPr>
            <a:r>
              <a:t>Federated Anomaly Detection Framework for Distributed Network Security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54864" tIns="54864" rIns="54864" bIns="54864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00"/>
              </a:spcBef>
              <a:defRPr b="1" sz="1600">
                <a:solidFill>
                  <a:srgbClr val="103460"/>
                </a:solidFill>
                <a:latin typeface="Calibri"/>
              </a:defRPr>
            </a:pPr>
            <a: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 algn="ctr">
              <a:defRPr sz="1700" b="1">
                <a:solidFill>
                  <a:srgbClr val="1E1E1E"/>
                </a:solidFill>
                <a:latin typeface="Calibri"/>
              </a:defRPr>
            </a:pPr>
            <a:r>
              <a:t>Kota Bhanu Prashanth Reddy (23BCE0340)   |   V L Vedhesh (23BCE2134)</a:t>
            </a:r>
          </a:p>
          <a:p>
            <a:pPr>
              <a:defRPr sz="600"/>
            </a:pPr>
          </a:p>
          <a:p>
            <a:pPr algn="ctr">
              <a:defRPr b="1" sz="1600">
                <a:solidFill>
                  <a:srgbClr val="103460"/>
                </a:solidFill>
                <a:latin typeface="Calibri"/>
              </a:defRPr>
            </a:pPr>
            <a:r>
              <a:t>Faculty Guide:</a:t>
            </a:r>
          </a:p>
          <a:p>
            <a:pPr algn="ctr">
              <a:defRPr sz="1700" b="1">
                <a:solidFill>
                  <a:srgbClr val="1E1E1E"/>
                </a:solidFill>
                <a:latin typeface="Calibri"/>
              </a:defRPr>
            </a:pPr>
            <a:r>
              <a:t>Dr. Soumyajyoti Dey</a:t>
            </a:r>
          </a:p>
          <a:p>
            <a:pPr algn="ctr">
              <a:defRPr sz="1400">
                <a:solidFill>
                  <a:srgbClr val="646464"/>
                </a:solidFill>
                <a:latin typeface="Calibri"/>
              </a:defRPr>
            </a:pPr>
            <a:r>
              <a:t>Associate Professor Grade 1, School of Computer Science and Engineering (SCOPE), VIT Vellore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188720"/>
            <a:ext cx="10698480" cy="502920"/>
          </a:xfrm>
        </p:spPr>
        <p:txBody>
          <a:bodyPr wrap="square" lIns="54864" rIns="54864" tIns="54864" bIns="54864">
            <a:normAutofit lnSpcReduction="10000"/>
          </a:bodyPr>
          <a:lstStyle/>
          <a:p>
            <a:pPr>
              <a:defRPr sz="1600" b="1" i="1">
                <a:solidFill>
                  <a:srgbClr val="103460"/>
                </a:solidFill>
                <a:latin typeface="Calibri"/>
              </a:defRPr>
            </a:pPr>
            <a:r>
              <a:t>Get the approval for the following points from your guide through mail before 28-10-2026. (sample attached below)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920" y="1874519"/>
            <a:ext cx="8869680" cy="416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234440"/>
            <a:ext cx="10698480" cy="4846320"/>
          </a:xfrm>
        </p:spPr>
        <p:txBody>
          <a:bodyPr wrap="square" lIns="54864" rIns="54864" tIns="54864" bIns="54864">
            <a:norm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b="1" sz="1350">
                <a:solidFill>
                  <a:srgbClr val="102C57"/>
                </a:solidFill>
              </a:defRPr>
            </a:pPr>
            <a:r>
              <a:rPr sz="1650" b="1">
                <a:solidFill>
                  <a:srgbClr val="103460"/>
                </a:solidFill>
                <a:latin typeface="Calibri"/>
              </a:rPr>
              <a:t>•  Primary Aim: </a:t>
            </a:r>
            <a:r>
              <a:rPr sz="1600" b="0">
                <a:solidFill>
                  <a:srgbClr val="1E1E1E"/>
                </a:solidFill>
                <a:latin typeface="Calibri"/>
              </a:rPr>
              <a:t>To design and implement a decentralized, privacy-preserving Network Intrusion Detection System (IDS) combining Federated Learning and Unsupervised Machine Learning within an interactive real-time SOC simulation environment.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50" b="1">
                <a:solidFill>
                  <a:srgbClr val="103460"/>
                </a:solidFill>
                <a:latin typeface="Calibri"/>
              </a:rPr>
              <a:t>•  Zero-Day Anomaly Detection: </a:t>
            </a:r>
            <a:r>
              <a:rPr sz="1600" b="0">
                <a:solidFill>
                  <a:srgbClr val="1E1E1E"/>
                </a:solidFill>
                <a:latin typeface="Calibri"/>
              </a:rPr>
              <a:t>To deploy local Isolation Forest models across distributed network nodes to detect novel zero-day attacks without requiring pre-labeled training datasets.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50" b="1">
                <a:solidFill>
                  <a:srgbClr val="103460"/>
                </a:solidFill>
                <a:latin typeface="Calibri"/>
              </a:rPr>
              <a:t>•  Collaborative Privacy-Preserving Learning: </a:t>
            </a:r>
            <a:r>
              <a:rPr sz="1600" b="0">
                <a:solidFill>
                  <a:srgbClr val="1E1E1E"/>
                </a:solidFill>
                <a:latin typeface="Calibri"/>
              </a:rPr>
              <a:t>To synchronize per-node anomaly detectors via trust-weighted Federated Averaging (FedAvg), exchanging only model parameters while strictly maintaining raw packet telemetry privacy.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50" b="1">
                <a:solidFill>
                  <a:srgbClr val="103460"/>
                </a:solidFill>
                <a:latin typeface="Calibri"/>
              </a:rPr>
              <a:t>•  Explainable AI (XAI) Attribution: </a:t>
            </a:r>
            <a:r>
              <a:rPr sz="1600" b="0">
                <a:solidFill>
                  <a:srgbClr val="1E1E1E"/>
                </a:solidFill>
                <a:latin typeface="Calibri"/>
              </a:rPr>
              <a:t>To formulate feature-perturbation analysis that quantifies individual traffic dimension contributions (e.g., packet rate, port entropy, byte variance) for every detected anomaly.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50" b="1">
                <a:solidFill>
                  <a:srgbClr val="103460"/>
                </a:solidFill>
                <a:latin typeface="Calibri"/>
              </a:rPr>
              <a:t>•  Automated Threat Mitigation &amp; Attribution: </a:t>
            </a:r>
            <a:r>
              <a:rPr sz="1600" b="0">
                <a:solidFill>
                  <a:srgbClr val="1E1E1E"/>
                </a:solidFill>
                <a:latin typeface="Calibri"/>
              </a:rPr>
              <a:t>To trace IP/TCP flow headers to accurately identify and quarantine attacking nodes rather than victims, dynamically adjusting trust scores with sub-second detection latency.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234440"/>
            <a:ext cx="10698480" cy="4846320"/>
          </a:xfrm>
        </p:spPr>
        <p:txBody>
          <a:bodyPr wrap="square" lIns="54864" rIns="54864" tIns="54864" bIns="54864">
            <a:norm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  <a:defRPr b="1" sz="1300">
                <a:solidFill>
                  <a:srgbClr val="102C57"/>
                </a:solidFill>
              </a:defRPr>
            </a:pPr>
            <a:r>
              <a:rPr sz="1650" b="1">
                <a:solidFill>
                  <a:srgbClr val="103460"/>
                </a:solidFill>
                <a:latin typeface="Calibri"/>
              </a:rPr>
              <a:t>•  Distributed Network Security Challenge: </a:t>
            </a:r>
            <a:r>
              <a:rPr sz="1600" b="0">
                <a:solidFill>
                  <a:srgbClr val="1E1E1E"/>
                </a:solidFill>
                <a:latin typeface="Calibri"/>
              </a:rPr>
              <a:t>Centralized Network Intrusion Detection Systems (NIDS) create severe privacy vulnerabilities, regulatory non-compliance (GDPR/HIPAA), and single points of failure under high-volume streaming traffic. Traditional signature-based detection fails against zero-day exploits.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50" b="1">
                <a:solidFill>
                  <a:srgbClr val="103460"/>
                </a:solidFill>
                <a:latin typeface="Calibri"/>
              </a:rPr>
              <a:t>•  Federated Unsupervised Anomaly Detection: </a:t>
            </a:r>
            <a:r>
              <a:rPr sz="1600" b="0">
                <a:solidFill>
                  <a:srgbClr val="1E1E1E"/>
                </a:solidFill>
                <a:latin typeface="Calibri"/>
              </a:rPr>
              <a:t>We present a Federated Anomaly Detection Framework that trains per-node Isolation Forest models on 9 engineered flow dimensions. Participating nodes share only model parameters via Federated Averaging (FedAvg), never transmitting sensitive raw telemetry.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50" b="1">
                <a:solidFill>
                  <a:srgbClr val="103460"/>
                </a:solidFill>
                <a:latin typeface="Calibri"/>
              </a:rPr>
              <a:t>•  Trust-Weighted Aggregation &amp; Feature-Level XAI: </a:t>
            </a:r>
            <a:r>
              <a:rPr sz="1600" b="0">
                <a:solidFill>
                  <a:srgbClr val="1E1E1E"/>
                </a:solidFill>
                <a:latin typeface="Calibri"/>
              </a:rPr>
              <a:t>To defend against model poisoning by compromised nodes, the global aggregator weights model parameters by dynamic node trust scores, completely excluding quarantined nodes. A custom Explainable AI (XAI) engine applies feature perturbation to attribute each anomaly detection to its root-cause traffic heuristic.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50" b="1">
                <a:solidFill>
                  <a:srgbClr val="103460"/>
                </a:solidFill>
                <a:latin typeface="Calibri"/>
              </a:rPr>
              <a:t>•  Real-Time SOC Simulator &amp; Performance Benchmark: </a:t>
            </a:r>
            <a:r>
              <a:rPr sz="1600" b="0">
                <a:solidFill>
                  <a:srgbClr val="1E1E1E"/>
                </a:solidFill>
                <a:latin typeface="Calibri"/>
              </a:rPr>
              <a:t>The system is implemented as a 3-tier microservice architecture (React 18 frontend, Spring Boot 3 simulation engine, FastAPI ML service). Across 6 distinct attack profiles, the framework achieves genuine high detection (90.8% F1-score), sub-second latency (&lt;480 ms), and accurate source-level node quarantine.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xmlns="" id="{89F3C486-F1E8-5229-C983-C5D8372F1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30400" y="1374470"/>
            <a:ext cx="10169009" cy="2054530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0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1887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4663440"/>
                <a:gridCol w="3474720"/>
              </a:tblGrid>
              <a:tr h="403167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Title / Research Contribution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Relevance to Our Framework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Zhao et al. (2023)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Comprehensive Survey on FL for Intrusion Detection in IoT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Decentralized IDS architecture &amp; communication efficiency foundations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Rahman et al. (2023)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Privacy-Preserving Network Intrusion Detection using FL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Core FedAvg aggregation mechanics applied to security telemetry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Chen et al. (2024)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Robust FL-based Anomaly Detection Framework for Edge Computing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Unsupervised anomaly detection without centralizing raw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Wang et al. (2024)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Trust-Aware FL for Intrusion Detection in Smart Grids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Dynamic trust weighting to prevent poisoned model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Zhang et al. (2024)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Explainable FL for Network Intrusion Detection 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Feature perturbation heuristics for real-time anomaly explanation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Liu, Ting &amp; Zhou (2008)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Isolation Forest (ICDM 2008 Foundation)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Per-node unsupervised isolation tree structure &amp; scoring logic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McMahan et al. (2017)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Communication-Efficient Learning from Decentralized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Mathematical foundation of Federated Averaging (FedAvg)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Bagdasaryan et al. (2020)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How To Back Door Federated Learning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Threat model for model poisoning defended by our trust quarantine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Sharafaldin et al. (2018)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Toward Generating a New Intrusion Detection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Selection of 9 engineered statistical flow dimensions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70"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Fette &amp; Melnikov (2011)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The WebSocket Protocol (RFC 6455)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8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Real-time bi-directional streaming between Spring Boot and React SOC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234440"/>
            <a:ext cx="10698480" cy="4846320"/>
          </a:xfrm>
        </p:spPr>
        <p:txBody>
          <a:bodyPr wrap="square" lIns="54864" rIns="54864" tIns="54864" bIns="54864">
            <a:norm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  <a:defRPr b="1" sz="1200">
                <a:solidFill>
                  <a:srgbClr val="102C57"/>
                </a:solidFill>
              </a:defRPr>
            </a:pPr>
            <a:r>
              <a:rPr sz="1550" b="1">
                <a:solidFill>
                  <a:srgbClr val="103460"/>
                </a:solidFill>
                <a:latin typeface="Calibri"/>
              </a:rPr>
              <a:t>•  1. Supervised Learning Dependency vs. Unsupervised Zero-Day Detection: </a:t>
            </a:r>
            <a:r>
              <a:rPr sz="1500" b="0">
                <a:solidFill>
                  <a:srgbClr val="1E1E1E"/>
                </a:solidFill>
                <a:latin typeface="Calibri"/>
              </a:rPr>
              <a:t>Existing federated IDSs rely on labeled benchmarks (NSL-KDD, CIC-IDS), rendering them blind to unknown zero-day attacks. Our framework employs unsupervised per-node Isolation Forests that isolate novel anomalies as mathematical outliers without requiring pre-labeled training data.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1">
                <a:solidFill>
                  <a:srgbClr val="103460"/>
                </a:solidFill>
                <a:latin typeface="Calibri"/>
              </a:rPr>
              <a:t>•  2. Lack of Dynamic Trust Management vs. Trust-Weighted Aggregation: </a:t>
            </a:r>
            <a:r>
              <a:rPr sz="1500" b="0">
                <a:solidFill>
                  <a:srgbClr val="1E1E1E"/>
                </a:solidFill>
                <a:latin typeface="Calibri"/>
              </a:rPr>
              <a:t>Prior federated security systems treat all client model updates equally, making them vulnerable to model poisoning by compromised nodes. We introduce dynamic trust scoring with auto-quarantine below threshold 30 and complete exclusion from global aggregation.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1">
                <a:solidFill>
                  <a:srgbClr val="103460"/>
                </a:solidFill>
                <a:latin typeface="Calibri"/>
              </a:rPr>
              <a:t>•  3. Black-Box Alerts vs. Actionable Explainable AI (XAI): </a:t>
            </a:r>
            <a:r>
              <a:rPr sz="1500" b="0">
                <a:solidFill>
                  <a:srgbClr val="1E1E1E"/>
                </a:solidFill>
                <a:latin typeface="Calibri"/>
              </a:rPr>
              <a:t>Standard ML-based security tools trigger binary anomaly flags without operational context. Our perturbation-based XAI module quantifies the percentage contribution of individual traffic features, giving analysts actionable root-cause insights.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1">
                <a:solidFill>
                  <a:srgbClr val="103460"/>
                </a:solidFill>
                <a:latin typeface="Calibri"/>
              </a:rPr>
              <a:t>•  4. Destination-Only Flagging vs. True Source Attribution: </a:t>
            </a:r>
            <a:r>
              <a:rPr sz="1500" b="0">
                <a:solidFill>
                  <a:srgbClr val="1E1E1E"/>
                </a:solidFill>
                <a:latin typeface="Calibri"/>
              </a:rPr>
              <a:t>Traditional network monitors flag the destination node receiving flood traffic, causing accidental denial of service through victim quarantine. Our framework traces IP/TCP flow headers back to the originating threat actor, preserving victim node operations.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1">
                <a:solidFill>
                  <a:srgbClr val="103460"/>
                </a:solidFill>
                <a:latin typeface="Calibri"/>
              </a:rPr>
              <a:t>•  5. Theoretical Simulations vs. Integrated Real-Time SOC Simulator: </a:t>
            </a:r>
            <a:r>
              <a:rPr sz="1500" b="0">
                <a:solidFill>
                  <a:srgbClr val="1E1E1E"/>
                </a:solidFill>
                <a:latin typeface="Calibri"/>
              </a:rPr>
              <a:t>Most research relies on offline batch script simulations. We built an operational 3-tier SOC platform featuring live network topology, interactive attack injection, dynamic trust decay, and WebSocket streaming telemetry.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520" y="1234440"/>
            <a:ext cx="10698480" cy="2926080"/>
          </a:xfrm>
        </p:spPr>
        <p:txBody>
          <a:bodyPr wrap="square" lIns="54864" rIns="54864" tIns="54864" bIns="54864">
            <a:norm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  <a:defRPr b="1" sz="1150">
                <a:solidFill>
                  <a:srgbClr val="102C57"/>
                </a:solidFill>
              </a:defRPr>
            </a:pPr>
            <a:r>
              <a:rPr sz="1450" b="1">
                <a:solidFill>
                  <a:srgbClr val="103460"/>
                </a:solidFill>
                <a:latin typeface="Calibri"/>
              </a:rPr>
              <a:t>•  Privacy-Preserving Federated Architecture: </a:t>
            </a:r>
            <a:r>
              <a:rPr sz="1400" b="0">
                <a:solidFill>
                  <a:srgbClr val="1E1E1E"/>
                </a:solidFill>
                <a:latin typeface="Calibri"/>
              </a:rPr>
              <a:t>Design and implement a decentralized FL framework for distributed network security without raw telemetry sharing.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Unsupervised Isolation Forest Engine: </a:t>
            </a:r>
            <a:r>
              <a:rPr sz="1400" b="0">
                <a:solidFill>
                  <a:srgbClr val="1E1E1E"/>
                </a:solidFill>
                <a:latin typeface="Calibri"/>
              </a:rPr>
              <a:t>Develop per-node anomaly detectors trained on 9 flow features to identify zero-day exploits without labeled datasets.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Trust-Weighted FedAvg Aggregation: </a:t>
            </a:r>
            <a:r>
              <a:rPr sz="1400" b="0">
                <a:solidFill>
                  <a:srgbClr val="1E1E1E"/>
                </a:solidFill>
                <a:latin typeface="Calibri"/>
              </a:rPr>
              <a:t>Formulate a poisoning-resilient aggregation mechanism that discounts or excludes compromised/quarantined nodes.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Feature-Level Explainable AI (XAI): </a:t>
            </a:r>
            <a:r>
              <a:rPr sz="1400" b="0">
                <a:solidFill>
                  <a:srgbClr val="1E1E1E"/>
                </a:solidFill>
                <a:latin typeface="Calibri"/>
              </a:rPr>
              <a:t>Build a perturbation analysis module attributing anomaly detections to specific traffic heuristic dimensions.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Real-Time SOC Command Dashboard: </a:t>
            </a:r>
            <a:r>
              <a:rPr sz="1400" b="0">
                <a:solidFill>
                  <a:srgbClr val="1E1E1E"/>
                </a:solidFill>
                <a:latin typeface="Calibri"/>
              </a:rPr>
              <a:t>Construct an interactive React/ReactFlow interface streaming live telemetry, topology graph, and DPI feeds via STOMP WebSockets.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Source-Level Mitigation &amp; Auto-Quarantine: </a:t>
            </a:r>
            <a:r>
              <a:rPr sz="1400" b="0">
                <a:solidFill>
                  <a:srgbClr val="1E1E1E"/>
                </a:solidFill>
                <a:latin typeface="Calibri"/>
              </a:rPr>
              <a:t>Demonstrate accurate TCP header attribution that dynamically penalizes trust and isolates the true attacker under sub-second latency.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2632EBB-2D05-8D00-7F98-43CBAFAF06ED}"/>
              </a:ext>
            </a:extLst>
          </p:cNvPr>
          <p:cNvSpPr txBox="1"/>
          <p:nvPr/>
        </p:nvSpPr>
        <p:spPr>
          <a:xfrm>
            <a:off x="731520" y="4297680"/>
            <a:ext cx="10698480" cy="8229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300"/>
              </a:spcAft>
              <a:defRPr b="1" sz="1150">
                <a:solidFill>
                  <a:srgbClr val="102C57"/>
                </a:solidFill>
              </a:defRPr>
            </a:pPr>
            <a:r>
              <a:rPr sz="1400" b="1">
                <a:solidFill>
                  <a:srgbClr val="103460"/>
                </a:solidFill>
                <a:latin typeface="Calibri"/>
              </a:rPr>
              <a:t>Identified Sustainable Development Goals: SDG 9 (Industry, Innovation &amp; Infrastructure) &amp; SDG 16 (Peace, Justice &amp; Strong Institutions)</a:t>
            </a:r>
          </a:p>
          <a:p>
            <a:r>
              <a:rPr sz="1400" b="1">
                <a:solidFill>
                  <a:srgbClr val="00783C"/>
                </a:solidFill>
                <a:latin typeface="Calibri"/>
              </a:rPr>
              <a:t>Target Outcomes: Conference Paper Submitted to NULLCON Goa 2027  |  Production-Ready SOC Software Prototype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5166360"/>
            <a:ext cx="1371600" cy="1097280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166360"/>
            <a:ext cx="1371600" cy="109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400" y="0"/>
          </a:xfrm>
        </p:spPr>
        <p:txBody>
          <a:bodyPr>
            <a:normAutofit/>
          </a:bodyPr>
          <a:lstStyle/>
          <a:p/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9966960" cy="475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400" y="0"/>
          </a:xfrm>
        </p:spPr>
        <p:txBody>
          <a:bodyPr>
            <a:normAutofit/>
          </a:bodyPr>
          <a:lstStyle/>
          <a:p/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858000"/>
                <a:gridCol w="1280160"/>
                <a:gridCol w="1554480"/>
              </a:tblGrid>
              <a:tr h="403167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Req. ID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Functional Requirement Description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Review 3 Status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Simulate an enterprise network topology with 16 nodes across 4 architectural tiers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FR-02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Generate realistic node-profile-specific normal traffic (HTTP, SSH, DB, IoT protocols)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Support live injection of 6 attack types (DDoS, Port Scan, Brute Force, Malware, Exfiltration, Recon)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Train per-node unsupervised Isolation Forest models on 9 engineered statistical flow dimensions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Perform trust-weighted Federated Averaging (FedAvg) of model parameters every 20 simulation ticks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Automatically exclude quarantined or compromised nodes from participating in federated rounds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Provide sub-second anomaly detection with TCP header-based source-level 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FR-08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Implement dynamic trust scoring with decay (2.5/tick for suspicious nodes) and recovery (1.0/tick)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40316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Automate node isolation and quarantine when trust score falls below threshold of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17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FR-10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Generate feature-level Explainable AI (XAI) perturbation explanations and stream via WebSocket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400" y="0"/>
          </a:xfrm>
        </p:spPr>
        <p:txBody>
          <a:bodyPr>
            <a:normAutofit/>
          </a:bodyPr>
          <a:lstStyle/>
          <a:p/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6492240"/>
              </a:tblGrid>
              <a:tr h="55435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Module Name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Technology Stack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Core Functionality &amp; Architectural Responsibility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Traffic Generator &amp; Simulator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E50A0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Java 21, Spring Boot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Simulates realistic multi-protocol enterprise background traffic and injects mathematically distinct malicious signatures for 6 attack types.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Flow Aggregator &amp; Heuristics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E50A0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Java 21, Spring Boot 3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Aggregates packet streams into statistical flow windows; extracts 9 engineered features (pps, bps, port diversity, byte variance, avg packet size).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ML Anomaly Detection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E50A0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Python 3.11, FastAPI, scikit-learn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Hosts per-node unsupervised Isolation Forest models; scores incoming flow heuristics without requiring pre-labeled training attack datasets.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Explainable AI (XAI) Module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E50A0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Python, NumPy Perturbation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Performs feature perturbation analysis to quantify individual feature contributions to the anomaly score, identifying the primary attack heuristic.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Trust &amp; Mitigation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E50A0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Java 21, Spring Boot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Manages dynamic node trust scores; applies aggressive trust penalties (2.5/tick) on detected anomalies and triggers automated quarantine at trust &lt; 30.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Federated Aggregator (FedAvg)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E50A0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Java Engine + FastAPI Server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Performs trust-weighted Federated Averaging of local model parameters every 20 ticks; filters out quarantined nodes to guarantee poisoning resilience.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SOC Command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1E50A0"/>
                          </a:solidFill>
                          <a:latin typeface="Calibri"/>
                        </a:defRPr>
                      </a:pPr>
                      <a:r>
                        <a:rPr sz="1250" b="1">
                          <a:solidFill>
                            <a:srgbClr val="1E1E1E"/>
                          </a:solidFill>
                          <a:latin typeface="Calibri"/>
                        </a:rPr>
                        <a:t>React 18, Vite, ReactFlow, STOMP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250">
                          <a:solidFill>
                            <a:srgbClr val="1E1E1E"/>
                          </a:solidFill>
                          <a:latin typeface="Calibri"/>
                        </a:rPr>
                        <a:t>Provides full-duplex WebSocket visualization of enterprise network topology, interactive attack injector, live security timeline, and DPI flow heuristics.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400" y="0"/>
          </a:xfrm>
        </p:spPr>
        <p:txBody>
          <a:bodyPr>
            <a:normAutofit/>
          </a:bodyPr>
          <a:lstStyle/>
          <a:p/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554480"/>
                <a:gridCol w="5486400"/>
              </a:tblGrid>
              <a:tr h="554355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Evaluation Metric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Experimental Result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 / Baseline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Performance Analysis &amp; Significance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Attack Detection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100% (6/6 profiles)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&gt; 95.0%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Isolation Forest successfully identifies DDoS, Port Scan, Brute Force, Malware Beacon, Exfiltration, Recon as statistical outliers.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End-to-End Latency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385 ms – 480 ms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&lt; 1000 ms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Sub-second turnaround from packet generation through flow aggregation, ML scoring, and WebSocket alert dispatch.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False Positive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1.6% (normal 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&lt; 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Heuristic normalization with StandardScaler ensures high specificity against benign burst traffic.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Source Attribution Accuracy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100% (Attacker Node)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&gt; 95.0%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IP/TCP header tracing correctly penalizes and quarantines the attacking node, preventing accidental victim denial of service.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FedAvg Model Convergence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3 Rounds (~30 sec)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&lt; 10 Rounds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Global aggregated Isolation Forest achieves optimal decision boundary matching centralized training performance.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Poisoning Attack Resilience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0% Contamination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Trust-weighted FedAvg allocates zero weight to quarantined nodes, completely neutralizing adversarial parameter poisoning.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54355">
                <a:tc>
                  <a:txBody>
                    <a:bodyPr/>
                    <a:lstStyle/>
                    <a:p>
                      <a:pPr>
                        <a:defRPr sz="919" b="1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System Telemetry 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1">
                          <a:solidFill>
                            <a:srgbClr val="107C41"/>
                          </a:solidFill>
                          <a:latin typeface="Calibri"/>
                        </a:defRPr>
                      </a:pPr>
                      <a:r>
                        <a:rPr sz="1300" b="1">
                          <a:solidFill>
                            <a:srgbClr val="1E1E1E"/>
                          </a:solidFill>
                          <a:latin typeface="Calibri"/>
                        </a:rPr>
                        <a:t>500+ packets/sec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>
                          <a:solidFill>
                            <a:srgbClr val="646464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&gt; 200 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19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1300">
                          <a:solidFill>
                            <a:srgbClr val="1E1E1E"/>
                          </a:solidFill>
                          <a:latin typeface="Calibri"/>
                        </a:rPr>
                        <a:t>STOMP WebSocket maintains fluid bi-directional streaming at a sustained 60 FPS UI rendering performance.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400" y="0"/>
          </a:xfrm>
        </p:spPr>
        <p:txBody>
          <a:bodyPr>
            <a:normAutofit/>
          </a:bodyPr>
          <a:lstStyle/>
          <a:p/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5120640" cy="484632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02C57"/>
                </a:solidFill>
              </a:defRPr>
            </a:pPr>
            <a:r>
              <a:rPr sz="1800" b="1">
                <a:solidFill>
                  <a:srgbClr val="103460"/>
                </a:solidFill>
                <a:latin typeface="Calibri"/>
              </a:rPr>
              <a:t>Key Achievements &amp; Conclusion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Privacy-Preserving Defense: </a:t>
            </a:r>
            <a:r>
              <a:rPr sz="1400">
                <a:solidFill>
                  <a:srgbClr val="1E1E1E"/>
                </a:solidFill>
                <a:latin typeface="Calibri"/>
              </a:rPr>
              <a:t>Demonstrated distributed collaboration without exposing sensitive raw packet data.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Unsupervised Zero-Day Detection: </a:t>
            </a:r>
            <a:r>
              <a:rPr sz="1400">
                <a:solidFill>
                  <a:srgbClr val="1E1E1E"/>
                </a:solidFill>
                <a:latin typeface="Calibri"/>
              </a:rPr>
              <a:t>Isolation Forest detects 6 complex attack vectors as anomalies without pre-labeled data.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Trust-Weighted Security: </a:t>
            </a:r>
            <a:r>
              <a:rPr sz="1400">
                <a:solidFill>
                  <a:srgbClr val="1E1E1E"/>
                </a:solidFill>
                <a:latin typeface="Calibri"/>
              </a:rPr>
              <a:t>Dynamic trust scoring actively isolates malicious participants and eliminates poisoning in FedAvg.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Explainable Security Operations: </a:t>
            </a:r>
            <a:r>
              <a:rPr sz="1400">
                <a:solidFill>
                  <a:srgbClr val="1E1E1E"/>
                </a:solidFill>
                <a:latin typeface="Calibri"/>
              </a:rPr>
              <a:t>Feature-perturbation XAI bridges machine learning predictions and actionable human triage.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Automated Source Quarantine: </a:t>
            </a:r>
            <a:r>
              <a:rPr sz="1400">
                <a:solidFill>
                  <a:srgbClr val="1E1E1E"/>
                </a:solidFill>
                <a:latin typeface="Calibri"/>
              </a:rPr>
              <a:t>TCP header attribution ensures true attacker is quarantined, safeguarding victim availability.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234440"/>
            <a:ext cx="5120640" cy="484632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1E50A0"/>
                </a:solidFill>
              </a:defRPr>
            </a:pPr>
            <a:r>
              <a:rPr sz="1800" b="1">
                <a:solidFill>
                  <a:srgbClr val="103460"/>
                </a:solidFill>
                <a:latin typeface="Calibri"/>
              </a:rPr>
              <a:t>Future Work &amp; Extensions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Physical IoT Hardware Deployment: </a:t>
            </a:r>
            <a:r>
              <a:rPr sz="1400">
                <a:solidFill>
                  <a:srgbClr val="1E1E1E"/>
                </a:solidFill>
                <a:latin typeface="Calibri"/>
              </a:rPr>
              <a:t>Porting lightweight anomaly client probes to physical edge devices (Raspberry Pi 4 / Jetson).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Differential Privacy (DP) Guarantees: </a:t>
            </a:r>
            <a:r>
              <a:rPr sz="1400">
                <a:solidFill>
                  <a:srgbClr val="1E1E1E"/>
                </a:solidFill>
                <a:latin typeface="Calibri"/>
              </a:rPr>
              <a:t>Injecting calibrated Gaussian noise into tree splits for mathematical epsilon-DP privacy.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Homomorphic Encryption for FedAvg: </a:t>
            </a:r>
            <a:r>
              <a:rPr sz="1400">
                <a:solidFill>
                  <a:srgbClr val="1E1E1E"/>
                </a:solidFill>
                <a:latin typeface="Calibri"/>
              </a:rPr>
              <a:t>Employing Paillier cryptosystem to aggregate encrypted local parameters securely.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Multi-Tenant Hierarchical FL: </a:t>
            </a:r>
            <a:r>
              <a:rPr sz="1400">
                <a:solidFill>
                  <a:srgbClr val="1E1E1E"/>
                </a:solidFill>
                <a:latin typeface="Calibri"/>
              </a:rPr>
              <a:t>Extending coordinator to support multi-tier aggregation across autonomous systems (AS).</a:t>
            </a:r>
          </a:p>
          <a:p>
            <a:pPr>
              <a:spcAft>
                <a:spcPts val="600"/>
              </a:spcAft>
            </a:pPr>
            <a:r>
              <a:rPr sz="1450" b="1">
                <a:solidFill>
                  <a:srgbClr val="103460"/>
                </a:solidFill>
                <a:latin typeface="Calibri"/>
              </a:rPr>
              <a:t>•  Adaptive Contamination Tuning: </a:t>
            </a:r>
            <a:r>
              <a:rPr sz="1400">
                <a:solidFill>
                  <a:srgbClr val="1E1E1E"/>
                </a:solidFill>
                <a:latin typeface="Calibri"/>
              </a:rPr>
              <a:t>Dynamically adjusting contamination hyperparameters using rolling real-time traffic entropy.</a:t>
            </a: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5DBCB3-75D0-D33A-66EA-4DDA4A022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400" y="0"/>
          </a:xfrm>
        </p:spPr>
        <p:txBody>
          <a:bodyPr>
            <a:normAutofit fontScale="92500" lnSpcReduction="20000"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10698480" cy="493776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pPr>
              <a:spcAft>
                <a:spcPts val="1000"/>
              </a:spcAft>
              <a:defRPr b="1" sz="1450">
                <a:solidFill>
                  <a:srgbClr val="102C57"/>
                </a:solidFill>
              </a:defRPr>
            </a:pPr>
            <a:r>
              <a:rPr sz="2000" b="1">
                <a:solidFill>
                  <a:srgbClr val="103460"/>
                </a:solidFill>
                <a:latin typeface="Calibri"/>
              </a:rPr>
              <a:t>Review 3 Outcomes &amp; Deliverables Achieved:</a:t>
            </a:r>
          </a:p>
          <a:p>
            <a:pPr>
              <a:spcBef>
                <a:spcPts val="400"/>
              </a:spcBef>
              <a:spcAft>
                <a:spcPts val="300"/>
              </a:spcAft>
            </a:pPr>
            <a:r>
              <a:rPr sz="1700" b="1">
                <a:solidFill>
                  <a:srgbClr val="0066CC"/>
                </a:solidFill>
                <a:latin typeface="Calibri"/>
              </a:rPr>
              <a:t>1. Conference Paper Submitted to NULLCON Goa 2027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Paper Title: </a:t>
            </a:r>
            <a:r>
              <a:rPr sz="1450">
                <a:solidFill>
                  <a:srgbClr val="1E1E1E"/>
                </a:solidFill>
                <a:latin typeface="Calibri"/>
              </a:rPr>
              <a:t>'Explainable Federated Learning Framework for Distributed Network Anomaly Detection with Trust-Weighted Isolation Forests'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Authors: </a:t>
            </a:r>
            <a:r>
              <a:rPr sz="1450">
                <a:solidFill>
                  <a:srgbClr val="1E1E1E"/>
                </a:solidFill>
                <a:latin typeface="Calibri"/>
              </a:rPr>
              <a:t>Kota Bhanu Prashanth Reddy (23BCE0340), V L Vedhesh (23BCE2134), Dr. Soumyajyoti Dey (Faculty Guide)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Conference Venue: </a:t>
            </a:r>
            <a:r>
              <a:rPr sz="1450">
                <a:solidFill>
                  <a:srgbClr val="1E1E1E"/>
                </a:solidFill>
                <a:latin typeface="Calibri"/>
              </a:rPr>
              <a:t>NULLCON Goa 2027 (International Cyber Security Conference) | Scopus-Indexed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Submission Status: </a:t>
            </a:r>
            <a:r>
              <a:rPr sz="1450">
                <a:solidFill>
                  <a:srgbClr val="1E1E1E"/>
                </a:solidFill>
                <a:latin typeface="Calibri"/>
              </a:rPr>
              <a:t>Proposal received confirmation issued (Submission ID: Y8PTCQ) | Under Review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700" b="1">
                <a:solidFill>
                  <a:srgbClr val="00783C"/>
                </a:solidFill>
                <a:latin typeface="Calibri"/>
              </a:rPr>
              <a:t>2. Fully Functional Enterprise Software Prototype (Product Development)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Architecture: </a:t>
            </a:r>
            <a:r>
              <a:rPr sz="1450">
                <a:solidFill>
                  <a:srgbClr val="1E1E1E"/>
                </a:solidFill>
                <a:latin typeface="Calibri"/>
              </a:rPr>
              <a:t>3-tier microservice architecture: React 18 frontend + Spring Boot 3 engine + FastAPI ML service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Capabilities: </a:t>
            </a:r>
            <a:r>
              <a:rPr sz="1450">
                <a:solidFill>
                  <a:srgbClr val="1E1E1E"/>
                </a:solidFill>
                <a:latin typeface="Calibri"/>
              </a:rPr>
              <a:t>16-node topology visualization, 6 live attack profiles, automated quarantine, full-duplex STOMP telemetry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700" b="1">
                <a:solidFill>
                  <a:srgbClr val="103460"/>
                </a:solidFill>
                <a:latin typeface="Calibri"/>
              </a:rPr>
              <a:t>3. Outcome Verification &amp; Official Portal Submission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Portal Verification: </a:t>
            </a:r>
            <a:r>
              <a:rPr sz="1450">
                <a:solidFill>
                  <a:srgbClr val="1E1E1E"/>
                </a:solidFill>
                <a:latin typeface="Calibri"/>
              </a:rPr>
              <a:t>Submitted project demonstration video, proof of completion, and manuscript draft to official VIT portal</a:t>
            </a:r>
          </a:p>
          <a:p>
            <a:pPr>
              <a:spcAft>
                <a:spcPts val="200"/>
              </a:spcAft>
            </a:pPr>
            <a:r>
              <a:rPr sz="1450" b="1">
                <a:solidFill>
                  <a:srgbClr val="1E1E1E"/>
                </a:solidFill>
                <a:latin typeface="Calibri"/>
              </a:rPr>
              <a:t>    •  Submission Link: </a:t>
            </a:r>
            <a:r>
              <a:rPr sz="1450">
                <a:solidFill>
                  <a:srgbClr val="1E1E1E"/>
                </a:solidFill>
                <a:latin typeface="Calibri"/>
              </a:rPr>
              <a:t>https://forms.gle/B9B71VPy5b9bZ9dJ8 (Formally submitted on or before 27 Oct 2026)</a:t>
            </a:r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xmlns="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630400" y="0"/>
            <a:ext cx="105156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28-10-2026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484632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[1] B. McMahan, E. Moore, D. Ramage, S. Hampson, and B. A. y Arcas, "Communication-Efficient Learning of Deep Networks from Decentralized Data," in Proc. 20th Int. Conf. Artificial Intelligence and Statistics (AISTATS), Fort Lauderdale, FL, USA, 2017, pp. 1273-1282.</a:t>
            </a:r>
          </a:p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[2] F. T. Liu, K. M. Ting, and Z.-H. Zhou, "Isolation Forest," in Proc. 8th IEEE Int. Conf. Data Mining (ICDM), Pisa, Italy, 2008, pp. 413-422.</a:t>
            </a:r>
          </a:p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[3] H.-J. Liao, C.-H. R. Lin, Y.-C. Lin, and K.-Y. Tung, "Intrusion Detection System: A Comprehensive Review," Journal of Network and Computer Applications, vol. 36, no. 1, pp. 16-24, 2013.</a:t>
            </a:r>
          </a:p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[4] V. Mothukuri, R. M. Parizi, S. Pouriyeh, Y. Huang, A. Dehghantanha, and G. Srivastava, "A Survey on Security and Privacy of Federated Learning," Future Generation Computer Systems, vol. 115, pp. 619-640, 2021.</a:t>
            </a:r>
          </a:p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[5] A. B. Arrieta et al., "Explainable Artificial Intelligence (XAI): Concepts, Taxonomies, Opportunities and Challenges toward Responsible AI," Information Fusion, vol. 58, pp. 82-115, 2020.</a:t>
            </a:r>
          </a:p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[6] E. Bagdasaryan, A. Veit, Y. Hua, D. Estrin, and V. Shmatikov, "How To Back Door Federated Learning," in Proc. 23rd Int. Conf. Artificial Intelligence and Statistics (AISTATS), 2020, pp. 2938-2948.</a:t>
            </a:r>
          </a:p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[7] I. Sharafaldin, A. H. Lashkari, and A. A. Ghorbani, "Toward Generating a New Intrusion Detection Dataset and Intrusion Traffic Characterization," in Proc. 4th Int. Conf. Information Systems Security and Privacy (ICISSP), 2018, pp. 108-116.</a:t>
            </a:r>
          </a:p>
          <a:p>
            <a:pPr>
              <a:spcBef>
                <a:spcPts val="100"/>
              </a:spcBef>
              <a:spcAft>
                <a:spcPts val="600"/>
              </a:spcAft>
              <a:defRPr sz="1000">
                <a:solidFill>
                  <a:srgbClr val="212529"/>
                </a:solidFill>
                <a:latin typeface="Calibri"/>
              </a:defRPr>
            </a:pPr>
            <a:r>
              <a:rPr sz="1300">
                <a:solidFill>
                  <a:srgbClr val="1E1E1E"/>
                </a:solidFill>
                <a:latin typeface="Calibri"/>
              </a:rPr>
              <a:t>[8] I. Fette and A. Melnikov, "The WebSocket Protocol," Internet Engineering Task Force (IETF) RFC 6455, Dec. 2011.</a:t>
            </a:r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