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4" r:id="rId9"/>
    <p:sldId id="265" r:id="rId10"/>
    <p:sldId id="266" r:id="rId11"/>
    <p:sldId id="267" r:id="rId12"/>
    <p:sldId id="268" r:id="rId13"/>
    <p:sldId id="269" r:id="rId14"/>
    <p:sldId id="26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-1232" y="-1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interSettings" Target="printerSettings/printerSettings1.bin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8E2E1-8886-43B2-B986-F2B06DAA2FAC}" type="datetimeFigureOut">
              <a:rPr lang="en-IN" smtClean="0"/>
              <a:t>05/10/26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9FDF3-42B5-4A41-B75E-186C38908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5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2592BF-19BE-9BF0-E2FC-07A36D05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83AB4F9-CBB3-B18D-E917-C3B064186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50F18A0-E201-1900-A139-E830DD3E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8AE-7F97-4550-9DD8-BF69171FDC30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D0906B9-B1F6-B52E-2EE0-7595B1EB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7A13AE1-F96E-D540-8DE1-8D903DB3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9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32F7EA-3EC9-99AF-13A9-22A3F8B2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C71419B-73DB-15DA-D2EE-0FC01B43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B080259-8D20-E29B-4DC5-312C3DB0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101830E-3502-194A-88FA-DC3E0F1B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CF6703C-229C-43C6-0484-38EC263A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9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0CE344-6494-09A6-A5E4-811EEE0C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351A0E2-2B9B-B96E-A3FD-0B26BDDB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767CE67-8E8A-4D0D-42DF-DDC842B1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2BD8-A2C4-424B-809A-C64DDCC305D9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3A78C3E-C139-1FD1-979B-D7167995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932F297-889B-B694-6DD5-92F8A6AA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14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92C89C-FEA2-11F6-7988-ADD14A7B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0E5DE7B-A406-1142-36EA-1C1498740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4355A2B-361E-86CB-ABBE-C510D2B22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0DA5E84-A1E0-A1C4-F7E6-DA9E7B12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F4BC-B3A4-46AF-9AEC-8478EF1369D5}" type="datetime1">
              <a:rPr lang="en-IN" smtClean="0"/>
              <a:t>05/10/26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5DDA460-54C8-F2AC-C053-53FF3FAF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E6F132A-BD40-58D2-CEEC-A1BA2B9E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22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05823BE-2514-8722-ED45-41E13E46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4BFEE3B-6ABA-1D24-97FE-717EBBC99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C653C42-4C6D-988F-42A0-8639A508A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F2B662B4-F942-A78F-394F-74F603717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5B445FBE-A81E-92E1-36E3-99D1586F8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B6D20C02-77C2-CB2A-62F8-60B8C626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993-B405-4F4D-B968-A01C27211659}" type="datetime1">
              <a:rPr lang="en-IN" smtClean="0"/>
              <a:t>05/10/26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AD033241-EB08-777E-F678-5D641F64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40D711ED-181F-C690-A3B3-1D82670F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27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77468B4-E355-69B3-7598-80ADF2F9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E2F1AB3B-AFC6-3627-62E6-22313061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8C8C-5FBB-4DD7-A06D-BE263480794B}" type="datetime1">
              <a:rPr lang="en-IN" smtClean="0"/>
              <a:t>05/10/26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B2C6591-48E4-480E-7965-DE9F8301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10C9D68-A16A-B2D3-C8A6-B5221AF7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06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23F289A-3AD7-C11D-1594-90A35E59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2985-06EC-459B-80C8-F6F4362A1C03}" type="datetime1">
              <a:rPr lang="en-IN" smtClean="0"/>
              <a:t>05/10/26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8C252269-BBE3-199F-299B-38D4E9CC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7407FDC-B2A9-1304-047F-5808A0B6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6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5A4847-FC20-D9BF-0BDE-26EC7EF7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8D9C584-AC19-D7B4-9DFE-7C1BC2E1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F4A3262-CE8D-2419-DCCC-C536E9FDA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94758D6-7AF2-29C5-E0EE-3B7BE155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E9DA-13C6-48A4-9305-B592482DE8CE}" type="datetime1">
              <a:rPr lang="en-IN" smtClean="0"/>
              <a:t>05/10/26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5AAC7E7-68C4-7616-2DE1-0333E2C44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E9EF51B-1685-66FF-0783-23584C25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38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939D0E-3A71-7252-C837-B8281F0D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AFE3D557-6893-299F-57A8-A7B173F10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4CC8BA2-BB08-F4E3-5660-C7370BA56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E57E1CE-C7CA-966D-8661-1E99A7DA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7C4B-C575-4DCF-9B63-045662930500}" type="datetime1">
              <a:rPr lang="en-IN" smtClean="0"/>
              <a:t>05/10/26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6055516-3E64-07E5-10C5-DE056657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FBA5AD5-9867-E76D-C035-2856CCFB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1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71D7EC-16EA-5009-5D33-ABFC55F2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B09EC6D-8ED5-29E9-9444-CC2D6A1CB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C1ADFC6-7CEA-ABEE-94C2-870B1E65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6931C-EA1A-43DD-B3B3-66F5BA587712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B1FA3A5-596E-6C2A-F853-30C5DC6F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12CE6B1-CE87-B68F-9494-FA6D109F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0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AF0FF105-FC99-2BCB-131F-2B902F8BA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50354FD6-064F-6E12-E8DE-81EC913CD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F1D2109-32D1-4A0F-F903-5142A204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B0E1-7C95-4C20-B9C6-BA51F388E878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3E5353D-EEF9-CF3C-A97F-F0F0EBFA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DF2F1DC-3958-BCDE-9A16-88E928E7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3540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85454249-E28B-CF91-F4A6-9762E4F3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1E3D641-7C66-CA7D-30A7-7F95AC27E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5E1D408-B228-838E-3E43-4304680A5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27C3E-786B-4150-9177-1C28966A2ADC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CEC7A69-1922-F157-900C-FF9566831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1B80E76-E345-1553-9664-0BCF569B5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4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forms.gle/B9B71VPy5b9bZ9dJ8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E9E27CD-EF84-CB3A-3D07-A31523568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236" y="-11493"/>
            <a:ext cx="4517528" cy="187163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xmlns="" id="{8BAD67C4-20B4-E1F6-A7E7-C8C33181D0C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907459" y="1934141"/>
            <a:ext cx="8924544" cy="1089529"/>
          </a:xfrm>
          <a:prstGeom prst="rect">
            <a:avLst/>
          </a:prstGeom>
          <a:noFill/>
        </p:spPr>
        <p:txBody>
          <a:bodyPr wrap="square" rtlCol="0" lIns="54864" rIns="54864" tIns="54864" bIns="54864">
            <a:spAutoFit/>
          </a:bodyPr>
          <a:lstStyle/>
          <a:p>
            <a:pPr algn="ctr">
              <a:defRPr sz="1900" b="1">
                <a:solidFill>
                  <a:srgbClr val="102C57"/>
                </a:solidFill>
                <a:latin typeface="Calibri"/>
              </a:defRPr>
            </a:pPr>
            <a:r>
              <a:t>B.Tech. CSE (Specialization: Information Security)</a:t>
            </a:r>
            <a:br/>
            <a:r>
              <a:t>BCSE497J – Project-I</a:t>
            </a:r>
          </a:p>
          <a:p>
            <a:pPr algn="ctr">
              <a:defRPr sz="2300" b="1">
                <a:solidFill>
                  <a:srgbClr val="1E50A0"/>
                </a:solidFill>
                <a:latin typeface="Calibri"/>
              </a:defRPr>
            </a:pPr>
            <a:r>
              <a:t>Federated Anomaly Detection Framework for Distributed Network Security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xmlns="" id="{68BC382C-506F-4908-6AC3-C0AA73064F47}"/>
              </a:ext>
            </a:extLst>
          </p:cNvPr>
          <p:cNvSpPr txBox="1"/>
          <p:nvPr/>
        </p:nvSpPr>
        <p:spPr>
          <a:xfrm>
            <a:off x="2609088" y="3208471"/>
            <a:ext cx="7071360" cy="2460809"/>
          </a:xfrm>
          <a:prstGeom prst="rect">
            <a:avLst/>
          </a:prstGeom>
        </p:spPr>
        <p:txBody>
          <a:bodyPr vert="horz" wrap="square" lIns="54864" tIns="54864" rIns="54864" bIns="54864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00"/>
              </a:spcBef>
              <a:defRPr b="1" sz="1400">
                <a:solidFill>
                  <a:srgbClr val="102C57"/>
                </a:solidFill>
              </a:defRPr>
            </a:pPr>
            <a:r>
              <a:t>Team Members:</a:t>
            </a:r>
            <a:endParaRPr sz="1800" dirty="0">
              <a:latin typeface="Times New Roman"/>
              <a:cs typeface="Times New Roman"/>
            </a:endParaRPr>
          </a:p>
          <a:p>
            <a:pPr algn="ctr">
              <a:defRPr sz="1350" b="1">
                <a:solidFill>
                  <a:srgbClr val="212529"/>
                </a:solidFill>
              </a:defRPr>
            </a:pPr>
            <a:r>
              <a:t>Kota Bhanu Prashanth Reddy (23BCE0340)   |   V L Vedhesh (23BCE2134)</a:t>
            </a:r>
          </a:p>
          <a:p>
            <a:pPr>
              <a:defRPr sz="600"/>
            </a:pPr>
          </a:p>
          <a:p>
            <a:pPr algn="ctr">
              <a:defRPr b="1" sz="1400">
                <a:solidFill>
                  <a:srgbClr val="102C57"/>
                </a:solidFill>
              </a:defRPr>
            </a:pPr>
            <a:r>
              <a:t>Faculty Guide:</a:t>
            </a:r>
          </a:p>
          <a:p>
            <a:pPr algn="ctr">
              <a:defRPr sz="1450" b="1">
                <a:solidFill>
                  <a:srgbClr val="1E50A0"/>
                </a:solidFill>
              </a:defRPr>
            </a:pPr>
            <a:r>
              <a:t>Dr. Soumyajyoti Dey</a:t>
            </a:r>
          </a:p>
          <a:p>
            <a:pPr algn="ctr">
              <a:defRPr sz="1150">
                <a:solidFill>
                  <a:srgbClr val="646464"/>
                </a:solidFill>
              </a:defRPr>
            </a:pPr>
            <a:r>
              <a:t>Associate Professor Grade 1, School of Computer Science and Engineering (SCOPE), VIT Vellore</a:t>
            </a:r>
          </a:p>
        </p:txBody>
      </p:sp>
    </p:spTree>
    <p:extLst>
      <p:ext uri="{BB962C8B-B14F-4D97-AF65-F5344CB8AC3E}">
        <p14:creationId xmlns:p14="http://schemas.microsoft.com/office/powerpoint/2010/main" val="42430368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6ACBE13-A9D6-9564-DA47-597E38E0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 Mail From Guide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233367C-DAD6-6E34-D21A-A981C0944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188720"/>
            <a:ext cx="10698480" cy="1234440"/>
          </a:xfrm>
        </p:spPr>
        <p:txBody>
          <a:bodyPr wrap="square" lIns="54864" rIns="54864" tIns="54864" bIns="54864">
            <a:normAutofit lnSpcReduction="10000"/>
          </a:bodyPr>
          <a:lstStyle/>
          <a:p>
            <a:pPr>
              <a:defRPr sz="1400" b="1">
                <a:solidFill>
                  <a:srgbClr val="102C57"/>
                </a:solidFill>
              </a:defRPr>
            </a:pPr>
            <a:r>
              <a:t>Guide Approval Confirmation (Project ID: 22517UG001):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Meeting with Guide Frequently: Satisfied   |   PowerPoint Presentation: Approved   |   Project Demonstration: Approved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Project Report Draft: Satisfied   |   Project Outcome: Completed / Research Manuscript Prepared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All the above aspects are addressed, validated, and updated by the project team for Review 3 (28-10-2026).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7827C50-3ED3-2DB6-C227-6784C6CA9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28-10-2026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6664170-792F-28F8-1C31-5F7A8D69F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E16528B-72DB-0275-6A94-33ABB5CD7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2</a:t>
            </a:fld>
            <a:endParaRPr lang="en-IN"/>
          </a:p>
        </p:txBody>
      </p:sp>
      <p:pic>
        <p:nvPicPr>
          <p:cNvPr id="7" name="Picture 6" descr="Screen Shot 2026-10-05 at 11.12.42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2514600"/>
            <a:ext cx="9418320" cy="3154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5606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D68A428-04DA-E6A8-7606-5D2FE5F31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280160"/>
            <a:ext cx="10698480" cy="4389120"/>
          </a:xfrm>
        </p:spPr>
        <p:txBody>
          <a:bodyPr wrap="square" lIns="54864" rIns="54864" tIns="54864" bIns="54864">
            <a:normAutofit/>
          </a:bodyPr>
          <a:lstStyle/>
          <a:p>
            <a:pPr>
              <a:spcAft>
                <a:spcPts val="1000"/>
              </a:spcAft>
              <a:defRPr b="1" sz="1350">
                <a:solidFill>
                  <a:srgbClr val="102C57"/>
                </a:solidFill>
              </a:defRPr>
            </a:pPr>
            <a:r>
              <a:t>•  Primary Aim: </a:t>
            </a:r>
            <a:r>
              <a:rPr b="0" sz="1250">
                <a:solidFill>
                  <a:srgbClr val="212529"/>
                </a:solidFill>
              </a:rPr>
              <a:t>To design and implement a decentralized, privacy-preserving Network Intrusion Detection System (IDS) combining Federated Learning and Unsupervised Machine Learning within an interactive real-time SOC simulation environment.</a:t>
            </a:r>
          </a:p>
          <a:p>
            <a:pPr>
              <a:spcAft>
                <a:spcPts val="1000"/>
              </a:spcAft>
              <a:defRPr b="1" sz="1350">
                <a:solidFill>
                  <a:srgbClr val="102C57"/>
                </a:solidFill>
              </a:defRPr>
            </a:pPr>
            <a:r>
              <a:t>•  Zero-Day Anomaly Detection: </a:t>
            </a:r>
            <a:r>
              <a:rPr b="0" sz="1250">
                <a:solidFill>
                  <a:srgbClr val="212529"/>
                </a:solidFill>
              </a:rPr>
              <a:t>To deploy local Isolation Forest models across distributed network nodes to detect novel zero-day attacks without requiring pre-labeled training datasets.</a:t>
            </a:r>
          </a:p>
          <a:p>
            <a:pPr>
              <a:spcAft>
                <a:spcPts val="1000"/>
              </a:spcAft>
              <a:defRPr b="1" sz="1350">
                <a:solidFill>
                  <a:srgbClr val="102C57"/>
                </a:solidFill>
              </a:defRPr>
            </a:pPr>
            <a:r>
              <a:t>•  Collaborative Privacy-Preserving Learning: </a:t>
            </a:r>
            <a:r>
              <a:rPr b="0" sz="1250">
                <a:solidFill>
                  <a:srgbClr val="212529"/>
                </a:solidFill>
              </a:rPr>
              <a:t>To synchronize per-node anomaly detectors via trust-weighted Federated Averaging (FedAvg), exchanging only model parameters while strictly maintaining raw packet telemetry privacy.</a:t>
            </a:r>
          </a:p>
          <a:p>
            <a:pPr>
              <a:spcAft>
                <a:spcPts val="1000"/>
              </a:spcAft>
              <a:defRPr b="1" sz="1350">
                <a:solidFill>
                  <a:srgbClr val="102C57"/>
                </a:solidFill>
              </a:defRPr>
            </a:pPr>
            <a:r>
              <a:t>•  Explainable AI (XAI) Root Cause Attribution: </a:t>
            </a:r>
            <a:r>
              <a:rPr b="0" sz="1250">
                <a:solidFill>
                  <a:srgbClr val="212529"/>
                </a:solidFill>
              </a:rPr>
              <a:t>To formulate feature-perturbation analysis that quantifies individual traffic dimension contributions (e.g., packet rate, port entropy, byte variance) for every detected anomaly.</a:t>
            </a:r>
          </a:p>
          <a:p>
            <a:pPr>
              <a:spcAft>
                <a:spcPts val="1000"/>
              </a:spcAft>
              <a:defRPr b="1" sz="1350">
                <a:solidFill>
                  <a:srgbClr val="102C57"/>
                </a:solidFill>
              </a:defRPr>
            </a:pPr>
            <a:r>
              <a:t>•  Automated Threat Mitigation &amp; Attribution: </a:t>
            </a:r>
            <a:r>
              <a:rPr b="0" sz="1250">
                <a:solidFill>
                  <a:srgbClr val="212529"/>
                </a:solidFill>
              </a:rPr>
              <a:t>To trace IP/TCP flow headers to accurately identify and quarantine attacking nodes rather than victims, dynamically adjusting trust scores with sub-second detection latency.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027305EA-516C-11F8-8A54-2BA046094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779E6AA7-AE20-8A91-BA42-261BF76A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28-10-2026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5188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0BD95E8-8D7C-F548-8B75-23C3B2B1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5DDED8F-1EBD-2E10-598E-0CA3F56F0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280160"/>
            <a:ext cx="10698480" cy="4389120"/>
          </a:xfrm>
        </p:spPr>
        <p:txBody>
          <a:bodyPr wrap="square" lIns="54864" rIns="54864" tIns="54864" bIns="54864">
            <a:norm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102C57"/>
                </a:solidFill>
              </a:defRPr>
            </a:pPr>
            <a:r>
              <a:t>•  The Challenge of Distributed Network Security: </a:t>
            </a:r>
            <a:r>
              <a:rPr b="0" sz="1200">
                <a:solidFill>
                  <a:srgbClr val="212529"/>
                </a:solidFill>
              </a:rPr>
              <a:t>Centralized Network Intrusion Detection Systems (NIDS) create severe privacy vulnerabilities, regulatory non-compliance (GDPR/HIPAA), and single points of failure under high-volume streaming traffic. Traditional signature-based detection fails against zero-day exploits.</a:t>
            </a:r>
          </a:p>
          <a:p>
            <a:pPr>
              <a:spcAft>
                <a:spcPts val="1000"/>
              </a:spcAft>
              <a:defRPr b="1" sz="1300">
                <a:solidFill>
                  <a:srgbClr val="102C57"/>
                </a:solidFill>
              </a:defRPr>
            </a:pPr>
            <a:r>
              <a:t>•  Federated Unsupervised Anomaly Detection: </a:t>
            </a:r>
            <a:r>
              <a:rPr b="0" sz="1200">
                <a:solidFill>
                  <a:srgbClr val="212529"/>
                </a:solidFill>
              </a:rPr>
              <a:t>We present a Federated Anomaly Detection Framework that trains per-node Isolation Forest models on 9 engineered flow dimensions (packets/sec, bytes/sec, port diversity, byte variance, etc.). Participating nodes share only model parameters via Federated Averaging (FedAvg), never transmitting sensitive raw telemetry.</a:t>
            </a:r>
          </a:p>
          <a:p>
            <a:pPr>
              <a:spcAft>
                <a:spcPts val="1000"/>
              </a:spcAft>
              <a:defRPr b="1" sz="1300">
                <a:solidFill>
                  <a:srgbClr val="102C57"/>
                </a:solidFill>
              </a:defRPr>
            </a:pPr>
            <a:r>
              <a:t>•  Trust-Weighted Aggregation &amp; Feature-Level XAI: </a:t>
            </a:r>
            <a:r>
              <a:rPr b="0" sz="1200">
                <a:solidFill>
                  <a:srgbClr val="212529"/>
                </a:solidFill>
              </a:rPr>
              <a:t>To defend against model poisoning by compromised nodes, the global aggregator weights model parameters by node trust scores, completely excluding quarantined nodes. A custom Explainable AI (XAI) engine applies feature perturbation to attribute each anomaly detection to its root-cause traffic heuristic.</a:t>
            </a:r>
          </a:p>
          <a:p>
            <a:pPr>
              <a:spcAft>
                <a:spcPts val="1000"/>
              </a:spcAft>
              <a:defRPr b="1" sz="1300">
                <a:solidFill>
                  <a:srgbClr val="102C57"/>
                </a:solidFill>
              </a:defRPr>
            </a:pPr>
            <a:r>
              <a:t>•  Real-Time SOC Simulator &amp; Performance Benchmark: </a:t>
            </a:r>
            <a:r>
              <a:rPr b="0" sz="1200">
                <a:solidFill>
                  <a:srgbClr val="212529"/>
                </a:solidFill>
              </a:rPr>
              <a:t>The system is implemented as a 3-tier microservice architecture (React 18 frontend, Spring Boot 3 simulation engine, FastAPI ML service). Across 6 distinct attack profiles (DDoS, Port Scan, Brute Force, Malware Beaconing, Data Exfiltration, Reconnaissance), the framework achieves 100% attack detection, sub-second latency (&lt;420 ms), and accurate source-level node quarantine.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156C6ACB-BF9E-DB99-B99C-4896C65273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7C3D067F-DF0A-3BD2-0B9E-C22E39B7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28-10-2026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1EFD8C3-C2D0-4BBB-7FD8-43FE2C08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BB9991A-41D4-F0AB-EF39-ACE70C81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0979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FF0AE58-8206-476A-BECC-A1ADC0E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89F3C486-F1E8-5229-C983-C5D8372F19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30400" y="1374470"/>
            <a:ext cx="10169009" cy="2054530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xmlns="" id="{435FB437-6170-6BA2-1A38-A902855A3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056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2EB6993A-B8FB-1E92-71D4-98155A7ED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0" y="4611603"/>
            <a:ext cx="4017612" cy="487722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913BC6E0-D294-E70D-8B27-13FBFEE5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28-10-2026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1F284BA2-3334-3EC1-0E81-4C90958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5A8F14EB-D02F-8EDE-87F4-A3F7E8D2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1234440"/>
          <a:ext cx="1069848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011680"/>
                <a:gridCol w="4663440"/>
                <a:gridCol w="3474720"/>
              </a:tblGrid>
              <a:tr h="40316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Author(s) &amp; Year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Title / Research Contribution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Relevance to Our Framework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</a:tr>
              <a:tr h="403167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Zhao et al. (2023)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Comprehensive Survey on FL for Intrusion Detection in IoT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Decentralized IDS architecture &amp; communication efficiency foundations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167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Rahman et al. (2023)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Privacy-Preserving Network Intrusion Detection using FL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Core FedAvg aggregation mechanics applied to security telemetry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403167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Chen et al. (2024)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Robust FL-based Anomaly Detection Framework for Edge Computing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Unsupervised anomaly detection without centralizing raw traffic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167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Wang et al. (2024)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Trust-Aware FL for Intrusion Detection in Smart Grids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Dynamic trust weighting to prevent poisoned model updates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403167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Zhang et al. (2024)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Explainable FL for Network Intrusion Detection 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Feature perturbation heuristics for real-time anomaly explanation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167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Liu, Ting &amp; Zhou (2008)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Isolation Forest (ICDM 2008 Foundation)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Per-node unsupervised isolation tree structure &amp; scoring logic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403167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McMahan et al. (2017)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Communication-Efficient Learning from Decentralized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Mathematical foundation of Federated Averaging (FedAvg)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167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Bagdasaryan et al. (2020)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How To Back Door Federated Learning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Threat model for model poisoning defended by our trust quarantine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403167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Sharafaldin et al. (2018)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Toward Generating a New Intrusion Detection Dataset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Selection of 9 engineered statistical flow dimensions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170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Fette &amp; Melnikov (2011)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The WebSocket Protocol (RFC 6455)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Real-time bi-directional streaming between Spring Boot and React SOC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FD64C5E-26B3-2EE9-895A-F822E4C4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07F8AC8-6380-9217-CA4C-1FBF1C25C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280160"/>
            <a:ext cx="10698480" cy="4389120"/>
          </a:xfrm>
        </p:spPr>
        <p:txBody>
          <a:bodyPr wrap="square" lIns="54864" rIns="54864" tIns="54864" bIns="54864">
            <a:norm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102C57"/>
                </a:solidFill>
              </a:defRPr>
            </a:pPr>
            <a:r>
              <a:t>•  1. Supervised Learning Dependency vs. Unsupervised Zero-Day Detection</a:t>
            </a:r>
            <a:br/>
            <a:r>
              <a:rPr b="0" sz="1100">
                <a:solidFill>
                  <a:srgbClr val="212529"/>
                </a:solidFill>
              </a:rPr>
              <a:t>   Existing federated IDSs rely on labeled benchmarks (NSL-KDD, CIC-IDS), rendering them blind to unknown zero-day attacks. Our framework employs unsupervised per-node Isolation Forests that isolate novel anomalies as mathematical outliers without requiring pre-labeled training data.</a:t>
            </a:r>
          </a:p>
          <a:p>
            <a:pPr>
              <a:spcAft>
                <a:spcPts val="600"/>
              </a:spcAft>
              <a:defRPr b="1" sz="1200">
                <a:solidFill>
                  <a:srgbClr val="102C57"/>
                </a:solidFill>
              </a:defRPr>
            </a:pPr>
            <a:r>
              <a:t>•  2. Lack of Dynamic Trust Management vs. Trust-Weighted Aggregation</a:t>
            </a:r>
            <a:br/>
            <a:r>
              <a:rPr b="0" sz="1100">
                <a:solidFill>
                  <a:srgbClr val="212529"/>
                </a:solidFill>
              </a:rPr>
              <a:t>   Prior federated security systems treat all client model updates equally, making them vulnerable to model poisoning by compromised nodes. We introduce dynamic trust scoring with auto-quarantine below threshold 30 and complete exclusion from global aggregation.</a:t>
            </a:r>
          </a:p>
          <a:p>
            <a:pPr>
              <a:spcAft>
                <a:spcPts val="600"/>
              </a:spcAft>
              <a:defRPr b="1" sz="1200">
                <a:solidFill>
                  <a:srgbClr val="102C57"/>
                </a:solidFill>
              </a:defRPr>
            </a:pPr>
            <a:r>
              <a:t>•  3. Black-Box Alerts vs. Actionable Explainable AI (XAI)</a:t>
            </a:r>
            <a:br/>
            <a:r>
              <a:rPr b="0" sz="1100">
                <a:solidFill>
                  <a:srgbClr val="212529"/>
                </a:solidFill>
              </a:rPr>
              <a:t>   Standard ML-based security tools trigger binary anomaly flags without operational context. Our perturbation-based XAI module quantifies the percentage contribution of individual traffic features, giving analysts actionable root-cause insights.</a:t>
            </a:r>
          </a:p>
          <a:p>
            <a:pPr>
              <a:spcAft>
                <a:spcPts val="600"/>
              </a:spcAft>
              <a:defRPr b="1" sz="1200">
                <a:solidFill>
                  <a:srgbClr val="102C57"/>
                </a:solidFill>
              </a:defRPr>
            </a:pPr>
            <a:r>
              <a:t>•  4. Destination-Only Flagging vs. True Source Attribution</a:t>
            </a:r>
            <a:br/>
            <a:r>
              <a:rPr b="0" sz="1100">
                <a:solidFill>
                  <a:srgbClr val="212529"/>
                </a:solidFill>
              </a:rPr>
              <a:t>   Traditional network monitors flag the destination node receiving flood traffic, causing accidental denial of service through victim quarantine. Our framework traces IP/TCP flow headers back to the originating threat actor, preserving victim node operations.</a:t>
            </a:r>
          </a:p>
          <a:p>
            <a:pPr>
              <a:spcAft>
                <a:spcPts val="600"/>
              </a:spcAft>
              <a:defRPr b="1" sz="1200">
                <a:solidFill>
                  <a:srgbClr val="102C57"/>
                </a:solidFill>
              </a:defRPr>
            </a:pPr>
            <a:r>
              <a:t>•  5. Theoretical Simulations vs. Integrated Real-Time SOC Simulator</a:t>
            </a:r>
            <a:br/>
            <a:r>
              <a:rPr b="0" sz="1100">
                <a:solidFill>
                  <a:srgbClr val="212529"/>
                </a:solidFill>
              </a:rPr>
              <a:t>   Most research relies on offline batch script simulations. We built an operational 3-tier SOC platform featuring live network topology, interactive attack injection, dynamic trust decay, and WebSocket streaming telemetry.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2430A72-466B-CBDE-2F02-635BA91A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28-10-2026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711DDA3-7A7C-1F61-1795-3A01ED67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94E3226-1DB1-3A4D-CE37-4A2AD48E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102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FF50AAC-0156-D6F5-7153-C7919999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283ADE1-559A-2DC2-A801-6A915E106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234440"/>
            <a:ext cx="10698480" cy="2651760"/>
          </a:xfrm>
        </p:spPr>
        <p:txBody>
          <a:bodyPr wrap="square" lIns="54864" rIns="54864" tIns="54864" bIns="54864">
            <a:normAutofit/>
          </a:bodyPr>
          <a:lstStyle/>
          <a:p>
            <a:pPr>
              <a:spcAft>
                <a:spcPts val="300"/>
              </a:spcAft>
              <a:defRPr b="1" sz="1150">
                <a:solidFill>
                  <a:srgbClr val="102C57"/>
                </a:solidFill>
              </a:defRPr>
            </a:pPr>
            <a:r>
              <a:t>•  Privacy-Preserving Federated Architecture: </a:t>
            </a:r>
            <a:r>
              <a:rPr b="0" sz="1100">
                <a:solidFill>
                  <a:srgbClr val="212529"/>
                </a:solidFill>
              </a:rPr>
              <a:t>Design and implement a decentralized FL framework for distributed network security without raw telemetry sharing.</a:t>
            </a:r>
          </a:p>
          <a:p>
            <a:pPr>
              <a:spcAft>
                <a:spcPts val="300"/>
              </a:spcAft>
              <a:defRPr b="1" sz="1150">
                <a:solidFill>
                  <a:srgbClr val="102C57"/>
                </a:solidFill>
              </a:defRPr>
            </a:pPr>
            <a:r>
              <a:t>•  Unsupervised Isolation Forest Engine: </a:t>
            </a:r>
            <a:r>
              <a:rPr b="0" sz="1100">
                <a:solidFill>
                  <a:srgbClr val="212529"/>
                </a:solidFill>
              </a:rPr>
              <a:t>Develop per-node anomaly detectors trained on 9 flow features to identify zero-day exploits without labeled datasets.</a:t>
            </a:r>
          </a:p>
          <a:p>
            <a:pPr>
              <a:spcAft>
                <a:spcPts val="300"/>
              </a:spcAft>
              <a:defRPr b="1" sz="1150">
                <a:solidFill>
                  <a:srgbClr val="102C57"/>
                </a:solidFill>
              </a:defRPr>
            </a:pPr>
            <a:r>
              <a:t>•  Trust-Weighted FedAvg Aggregation: </a:t>
            </a:r>
            <a:r>
              <a:rPr b="0" sz="1100">
                <a:solidFill>
                  <a:srgbClr val="212529"/>
                </a:solidFill>
              </a:rPr>
              <a:t>Formulate a poisoning-resilient aggregation mechanism that discounts or excludes compromised/quarantined nodes.</a:t>
            </a:r>
          </a:p>
          <a:p>
            <a:pPr>
              <a:spcAft>
                <a:spcPts val="300"/>
              </a:spcAft>
              <a:defRPr b="1" sz="1150">
                <a:solidFill>
                  <a:srgbClr val="102C57"/>
                </a:solidFill>
              </a:defRPr>
            </a:pPr>
            <a:r>
              <a:t>•  Feature-Level Explainable AI (XAI): </a:t>
            </a:r>
            <a:r>
              <a:rPr b="0" sz="1100">
                <a:solidFill>
                  <a:srgbClr val="212529"/>
                </a:solidFill>
              </a:rPr>
              <a:t>Build a perturbation analysis module attributing anomaly detections to specific traffic heuristic dimensions.</a:t>
            </a:r>
          </a:p>
          <a:p>
            <a:pPr>
              <a:spcAft>
                <a:spcPts val="300"/>
              </a:spcAft>
              <a:defRPr b="1" sz="1150">
                <a:solidFill>
                  <a:srgbClr val="102C57"/>
                </a:solidFill>
              </a:defRPr>
            </a:pPr>
            <a:r>
              <a:t>•  Real-Time SOC Command Dashboard: </a:t>
            </a:r>
            <a:r>
              <a:rPr b="0" sz="1100">
                <a:solidFill>
                  <a:srgbClr val="212529"/>
                </a:solidFill>
              </a:rPr>
              <a:t>Construct an interactive React/ReactFlow interface streaming live telemetry, topology graph, and DPI feeds via STOMP WebSockets.</a:t>
            </a:r>
          </a:p>
          <a:p>
            <a:pPr>
              <a:spcAft>
                <a:spcPts val="300"/>
              </a:spcAft>
              <a:defRPr b="1" sz="1150">
                <a:solidFill>
                  <a:srgbClr val="102C57"/>
                </a:solidFill>
              </a:defRPr>
            </a:pPr>
            <a:r>
              <a:t>•  Source-Level Mitigation &amp; Auto-Quarantine: </a:t>
            </a:r>
            <a:r>
              <a:rPr b="0" sz="1100">
                <a:solidFill>
                  <a:srgbClr val="212529"/>
                </a:solidFill>
              </a:rPr>
              <a:t>Demonstrate accurate TCP header attribution that dynamically penalizes trust and isolates the true attacker under sub-second latency.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22BADD22-870A-4D8F-B788-CCCD5C223F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1BE4F0EB-E8F1-14D8-E22A-38E83F9B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28-10-2026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6D8B93F-BA73-08B5-E0DD-D434FA25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6BABF72-E9F9-626A-63CD-EA20C071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2632EBB-2D05-8D00-7F98-43CBAFAF06ED}"/>
              </a:ext>
            </a:extLst>
          </p:cNvPr>
          <p:cNvSpPr txBox="1"/>
          <p:nvPr/>
        </p:nvSpPr>
        <p:spPr>
          <a:xfrm>
            <a:off x="460248" y="3977639"/>
            <a:ext cx="11523407" cy="640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b="1" sz="1150">
                <a:solidFill>
                  <a:srgbClr val="102C57"/>
                </a:solidFill>
              </a:defRPr>
            </a:pPr>
            <a:r>
              <a:t>Identified Sustainable Development Goals: SDG 9 (Industry, Innovation &amp; Infrastructure) &amp; SDG 16 (Peace, Justice &amp; Strong Institutions)</a:t>
            </a:r>
          </a:p>
          <a:p>
            <a:pPr>
              <a:defRPr b="1" sz="1100">
                <a:solidFill>
                  <a:srgbClr val="1E50A0"/>
                </a:solidFill>
              </a:defRPr>
            </a:pPr>
            <a:r>
              <a:t>Target Outcomes: Scopus-Indexed Conference Paper / Open-Source Product Demonstration</a:t>
            </a:r>
          </a:p>
        </p:txBody>
      </p:sp>
      <p:pic>
        <p:nvPicPr>
          <p:cNvPr id="8" name="Picture 7" descr="3 The UN 17 Sustainable Development Goals (SDGs), implemented by all... | Download Scientific Diagram">
            <a:extLst>
              <a:ext uri="{FF2B5EF4-FFF2-40B4-BE49-F238E27FC236}">
                <a16:creationId xmlns:a16="http://schemas.microsoft.com/office/drawing/2014/main" xmlns="" id="{36180A9B-AA72-E2D6-8362-4CDF7058D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701" y="4778273"/>
            <a:ext cx="1968651" cy="1578077"/>
          </a:xfrm>
          <a:prstGeom prst="rect">
            <a:avLst/>
          </a:prstGeom>
        </p:spPr>
      </p:pic>
      <p:pic>
        <p:nvPicPr>
          <p:cNvPr id="9" name="Picture 8" descr="What are Technology Readiness Levels (TRL)? - TWI">
            <a:extLst>
              <a:ext uri="{FF2B5EF4-FFF2-40B4-BE49-F238E27FC236}">
                <a16:creationId xmlns:a16="http://schemas.microsoft.com/office/drawing/2014/main" xmlns="" id="{D1491C9C-07B3-89C3-5FA0-72C9F44F3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545" y="4413148"/>
            <a:ext cx="2447027" cy="223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962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8D49C0F-2490-21B4-8186-6F75540A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BFBB131-7217-3694-F593-4021591CC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400" y="0"/>
          </a:xfrm>
        </p:spPr>
        <p:txBody>
          <a:bodyPr>
            <a:normAutofit/>
          </a:bodyPr>
          <a:lstStyle/>
          <a:p/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5DE9EA00-8D77-8DC9-1AE3-8B6FD1AF6B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Framework/Architecture/Block Diagram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3B40592E-46EE-B4F2-7D01-D3568C2F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28-10-2026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BCDC439-5940-84EE-247A-E3018795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6CB23C8-7091-8CFB-BF2C-3A19CCA8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block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69848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13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FE95AF1-B807-AC15-9C1A-B86677AF6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EF324FF-B70A-2FC0-8FD0-C802E31DD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400" y="0"/>
          </a:xfrm>
        </p:spPr>
        <p:txBody>
          <a:bodyPr>
            <a:normAutofit/>
          </a:bodyPr>
          <a:lstStyle/>
          <a:p/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0C9A0194-5820-F292-3A94-449C000E5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D4F25267-3005-EC45-A624-B78484DFA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28-10-2026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10022FF-AD0C-E15E-5F17-B2827B55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D8D6198-8B2C-26FB-53D2-A5B87C95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34440"/>
          <a:ext cx="1069848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6858000"/>
                <a:gridCol w="1280160"/>
                <a:gridCol w="1554480"/>
              </a:tblGrid>
              <a:tr h="40316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Req. ID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Functional Requirement Description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Review 3 Status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</a:tr>
              <a:tr h="403167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FR-01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Simulate an enterprise network topology with 16 nodes across 4 architectural tiers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07C41"/>
                          </a:solidFill>
                          <a:latin typeface="Calibri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167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FR-02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Generate realistic node-profile-specific normal traffic (HTTP, SSH, DB, IoT protocols)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07C41"/>
                          </a:solidFill>
                          <a:latin typeface="Calibri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403167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FR-03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Support live injection of 6 attack types (DDoS, Port Scan, Brute Force, Malware, Exfiltration, Recon)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07C41"/>
                          </a:solidFill>
                          <a:latin typeface="Calibri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167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FR-04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Train per-node unsupervised Isolation Forest models on 9 engineered statistical flow dimensions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07C41"/>
                          </a:solidFill>
                          <a:latin typeface="Calibri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403167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FR-05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Perform trust-weighted Federated Averaging (FedAvg) of model parameters every 20 simulation ticks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07C41"/>
                          </a:solidFill>
                          <a:latin typeface="Calibri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167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FR-06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Automatically exclude quarantined or compromised nodes from participating in federated rounds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07C41"/>
                          </a:solidFill>
                          <a:latin typeface="Calibri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403167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FR-07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Provide sub-second anomaly detection with TCP header-based source-level attribution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07C41"/>
                          </a:solidFill>
                          <a:latin typeface="Calibri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167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FR-08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Implement dynamic trust scoring with decay (2.5/tick for suspicious nodes) and recovery (1.0/tick)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07C41"/>
                          </a:solidFill>
                          <a:latin typeface="Calibri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403167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FR-09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Automate node isolation and quarantine when trust score falls below threshold of 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07C41"/>
                          </a:solidFill>
                          <a:latin typeface="Calibri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17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FR-10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Generate feature-level Explainable AI (XAI) perturbation explanations and stream via WebSocket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07C41"/>
                          </a:solidFill>
                          <a:latin typeface="Calibri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1299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D42F2ED-50F9-3DFA-95BB-1A1059C5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93F2560-A5FE-A724-8F39-E7E901E8F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400" y="0"/>
          </a:xfrm>
        </p:spPr>
        <p:txBody>
          <a:bodyPr>
            <a:normAutofit/>
          </a:bodyPr>
          <a:lstStyle/>
          <a:p/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B27DA514-48FC-4BF4-8205-DE21D456C5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D74A04E0-6631-130F-A154-C85D978EA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28-10-2026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9615995-EDEB-C984-B852-1229C23B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67F5109-389C-3E37-E553-A559233E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34440"/>
          <a:ext cx="1069848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94560"/>
                <a:gridCol w="6492240"/>
              </a:tblGrid>
              <a:tr h="55435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Module Name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Technology Stack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Core Functionality &amp; Architectural Responsibility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Traffic Generator &amp; Simulator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E50A0"/>
                          </a:solidFill>
                          <a:latin typeface="Calibri"/>
                        </a:defRPr>
                      </a:pPr>
                      <a:r>
                        <a:t>Java 21, Spring Boot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Simulates realistic multi-protocol enterprise background traffic and injects mathematically distinct malicious signatures for 6 attack types.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Flow Aggregator &amp; Heuristics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E50A0"/>
                          </a:solidFill>
                          <a:latin typeface="Calibri"/>
                        </a:defRPr>
                      </a:pPr>
                      <a:r>
                        <a:t>Java 21, Spring Boot 3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Aggregates packet streams into statistical flow windows; extracts 9 engineered features (pps, bps, port diversity, byte variance, avg packet size).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ML Anomaly Detection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E50A0"/>
                          </a:solidFill>
                          <a:latin typeface="Calibri"/>
                        </a:defRPr>
                      </a:pPr>
                      <a:r>
                        <a:t>Python 3.11, FastAPI, scikit-learn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Hosts per-node unsupervised Isolation Forest models; scores incoming flow heuristics without requiring pre-labeled training attack datasets.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Explainable AI (XAI) Module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E50A0"/>
                          </a:solidFill>
                          <a:latin typeface="Calibri"/>
                        </a:defRPr>
                      </a:pPr>
                      <a:r>
                        <a:t>Python, NumPy Perturbation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Performs feature perturbation analysis to quantify individual feature contributions to the anomaly score, identifying the primary attack heuristic.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Trust &amp; Mitigation Manager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E50A0"/>
                          </a:solidFill>
                          <a:latin typeface="Calibri"/>
                        </a:defRPr>
                      </a:pPr>
                      <a:r>
                        <a:t>Java 21, Spring Boot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Manages dynamic node trust scores; applies aggressive trust penalties (2.5/tick) on detected anomalies and triggers automated quarantine at trust &lt; 30.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Federated Aggregator (FedAvg)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E50A0"/>
                          </a:solidFill>
                          <a:latin typeface="Calibri"/>
                        </a:defRPr>
                      </a:pPr>
                      <a:r>
                        <a:t>Java Engine + FastAPI Server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Performs trust-weighted Federated Averaging of local model parameters every 20 ticks; filters out quarantined nodes to guarantee poisoning resilience.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SOC Command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E50A0"/>
                          </a:solidFill>
                          <a:latin typeface="Calibri"/>
                        </a:defRPr>
                      </a:pPr>
                      <a:r>
                        <a:t>React 18, Vite, ReactFlow, STOMP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Provides full-duplex WebSocket visualization of enterprise network topology, interactive attack injector, live security timeline, and DPI flow heuristics.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9870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21556E8-0003-02C5-D37D-A5CC4CE44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FB67973-736B-B05D-D378-DA7CBE3EB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400" y="0"/>
          </a:xfrm>
        </p:spPr>
        <p:txBody>
          <a:bodyPr>
            <a:normAutofit/>
          </a:bodyPr>
          <a:lstStyle/>
          <a:p/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28-10-2026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34440"/>
          <a:ext cx="1069848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1554480"/>
                <a:gridCol w="5486400"/>
              </a:tblGrid>
              <a:tr h="55435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Experimental Result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 / Baseline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Performance Analysis &amp; Significance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Attack Detection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107C41"/>
                          </a:solidFill>
                          <a:latin typeface="Calibri"/>
                        </a:defRPr>
                      </a:pPr>
                      <a:r>
                        <a:t>100% (6/6 profiles)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646464"/>
                          </a:solidFill>
                          <a:latin typeface="Calibri"/>
                        </a:defRPr>
                      </a:pPr>
                      <a:r>
                        <a:t>&gt; 95.0%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Isolation Forest successfully identifies DDoS, Port Scan, Brute Force, Malware Beacon, Exfiltration, Recon as statistical outliers.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End-to-End Latency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107C41"/>
                          </a:solidFill>
                          <a:latin typeface="Calibri"/>
                        </a:defRPr>
                      </a:pPr>
                      <a:r>
                        <a:t>385 ms – 480 ms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646464"/>
                          </a:solidFill>
                          <a:latin typeface="Calibri"/>
                        </a:defRPr>
                      </a:pPr>
                      <a:r>
                        <a:t>&lt; 1000 ms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Sub-second turnaround from packet generation through flow aggregation, ML scoring, and WebSocket alert dispatch.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False Positive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107C41"/>
                          </a:solidFill>
                          <a:latin typeface="Calibri"/>
                        </a:defRPr>
                      </a:pPr>
                      <a:r>
                        <a:t>1.6% (normal 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646464"/>
                          </a:solidFill>
                          <a:latin typeface="Calibri"/>
                        </a:defRPr>
                      </a:pPr>
                      <a:r>
                        <a:t>&lt; 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Heuristic normalization with StandardScaler ensures high specificity against benign burst traffic.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Source Attribution Accuracy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107C41"/>
                          </a:solidFill>
                          <a:latin typeface="Calibri"/>
                        </a:defRPr>
                      </a:pPr>
                      <a:r>
                        <a:t>100% (Attacker Node)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646464"/>
                          </a:solidFill>
                          <a:latin typeface="Calibri"/>
                        </a:defRPr>
                      </a:pPr>
                      <a:r>
                        <a:t>&gt; 95.0%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IP/TCP header tracing correctly penalizes and quarantines the attacking node, preventing accidental victim denial of service.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FedAvg Model Convergence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107C41"/>
                          </a:solidFill>
                          <a:latin typeface="Calibri"/>
                        </a:defRPr>
                      </a:pPr>
                      <a:r>
                        <a:t>3 Rounds (~30 sec)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646464"/>
                          </a:solidFill>
                          <a:latin typeface="Calibri"/>
                        </a:defRPr>
                      </a:pPr>
                      <a:r>
                        <a:t>&lt; 10 Rounds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Global aggregated Isolation Forest achieves optimal decision boundary matching centralized training performance.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Poisoning Attack Resilience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107C41"/>
                          </a:solidFill>
                          <a:latin typeface="Calibri"/>
                        </a:defRPr>
                      </a:pPr>
                      <a:r>
                        <a:t>0% Contamination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646464"/>
                          </a:solidFill>
                          <a:latin typeface="Calibri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Trust-weighted FedAvg allocates zero weight to quarantined nodes, completely neutralizing adversarial parameter poisoning.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System Telemetry Throughput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107C41"/>
                          </a:solidFill>
                          <a:latin typeface="Calibri"/>
                        </a:defRPr>
                      </a:pPr>
                      <a:r>
                        <a:t>500+ packets/sec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646464"/>
                          </a:solidFill>
                          <a:latin typeface="Calibri"/>
                        </a:defRPr>
                      </a:pPr>
                      <a:r>
                        <a:t>&gt; 200 pps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212529"/>
                          </a:solidFill>
                          <a:latin typeface="Calibri"/>
                        </a:defRPr>
                      </a:pPr>
                      <a:r>
                        <a:t>STOMP WebSocket maintains fluid bi-directional streaming at a sustained 60 FPS UI rendering performance.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6188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CC49A39-F362-DB35-B5DF-7E322AB9C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04F33DD-84F0-A7F9-A1DC-A4DEA1A7D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400" y="0"/>
          </a:xfrm>
        </p:spPr>
        <p:txBody>
          <a:bodyPr>
            <a:normAutofit/>
          </a:bodyPr>
          <a:lstStyle/>
          <a:p/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3754A46F-4AC3-5AF1-0B78-C0B5112BD1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851BAA61-633E-E24B-7DEE-4B2A2B1FA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28-10-2026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B93C553-2D0C-5A0A-39DC-21C43BD88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BF7A7E9-45BE-62F4-D3A6-F19DC6ABE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5212080" cy="44348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102C57"/>
                </a:solidFill>
              </a:defRPr>
            </a:pPr>
            <a:r>
              <a:t>Key Achievements &amp; Conclusion</a:t>
            </a:r>
          </a:p>
          <a:p>
            <a:pPr>
              <a:spcAft>
                <a:spcPts val="500"/>
              </a:spcAft>
              <a:defRPr b="1" sz="1100">
                <a:solidFill>
                  <a:srgbClr val="102C57"/>
                </a:solidFill>
              </a:defRPr>
            </a:pPr>
            <a:r>
              <a:t>•  Privacy-Preserving Defense: </a:t>
            </a:r>
            <a:r>
              <a:rPr b="0" sz="1050">
                <a:solidFill>
                  <a:srgbClr val="212529"/>
                </a:solidFill>
              </a:rPr>
              <a:t>Demonstrated that distributed enterprise networks can collaborate on anomaly detection without exposing sensitive raw packet data.</a:t>
            </a:r>
          </a:p>
          <a:p>
            <a:pPr>
              <a:spcAft>
                <a:spcPts val="500"/>
              </a:spcAft>
              <a:defRPr b="1" sz="1100">
                <a:solidFill>
                  <a:srgbClr val="102C57"/>
                </a:solidFill>
              </a:defRPr>
            </a:pPr>
            <a:r>
              <a:t>•  Unsupervised Zero-Day Detection: </a:t>
            </a:r>
            <a:r>
              <a:rPr b="0" sz="1050">
                <a:solidFill>
                  <a:srgbClr val="212529"/>
                </a:solidFill>
              </a:rPr>
              <a:t>Isolation Forest successfully detects 6 complex attack vectors as anomalies without relying on pre-labeled training datasets.</a:t>
            </a:r>
          </a:p>
          <a:p>
            <a:pPr>
              <a:spcAft>
                <a:spcPts val="500"/>
              </a:spcAft>
              <a:defRPr b="1" sz="1100">
                <a:solidFill>
                  <a:srgbClr val="102C57"/>
                </a:solidFill>
              </a:defRPr>
            </a:pPr>
            <a:r>
              <a:t>•  Trust-Weighted Security: </a:t>
            </a:r>
            <a:r>
              <a:rPr b="0" sz="1050">
                <a:solidFill>
                  <a:srgbClr val="212529"/>
                </a:solidFill>
              </a:rPr>
              <a:t>Dynamic trust scoring actively isolates malicious participants and eliminates model poisoning vulnerabilities in FedAvg.</a:t>
            </a:r>
          </a:p>
          <a:p>
            <a:pPr>
              <a:spcAft>
                <a:spcPts val="500"/>
              </a:spcAft>
              <a:defRPr b="1" sz="1100">
                <a:solidFill>
                  <a:srgbClr val="102C57"/>
                </a:solidFill>
              </a:defRPr>
            </a:pPr>
            <a:r>
              <a:t>•  Explainable Security Operations: </a:t>
            </a:r>
            <a:r>
              <a:rPr b="0" sz="1050">
                <a:solidFill>
                  <a:srgbClr val="212529"/>
                </a:solidFill>
              </a:rPr>
              <a:t>Feature-perturbation XAI bridges the gap between machine learning predictions and actionable human-in-the-loop triage.</a:t>
            </a:r>
          </a:p>
          <a:p>
            <a:pPr>
              <a:spcAft>
                <a:spcPts val="500"/>
              </a:spcAft>
              <a:defRPr b="1" sz="1100">
                <a:solidFill>
                  <a:srgbClr val="102C57"/>
                </a:solidFill>
              </a:defRPr>
            </a:pPr>
            <a:r>
              <a:t>•  Automated Source Quarantine: </a:t>
            </a:r>
            <a:r>
              <a:rPr b="0" sz="1050">
                <a:solidFill>
                  <a:srgbClr val="212529"/>
                </a:solidFill>
              </a:rPr>
              <a:t>TCP header attribution ensures the true attacker is quarantined, safeguarding victim availability.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234440"/>
            <a:ext cx="5212080" cy="44348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1E50A0"/>
                </a:solidFill>
              </a:defRPr>
            </a:pPr>
            <a:r>
              <a:t>Future Work &amp; Extensions</a:t>
            </a:r>
          </a:p>
          <a:p>
            <a:pPr>
              <a:spcAft>
                <a:spcPts val="500"/>
              </a:spcAft>
              <a:defRPr b="1" sz="1100">
                <a:solidFill>
                  <a:srgbClr val="1E50A0"/>
                </a:solidFill>
              </a:defRPr>
            </a:pPr>
            <a:r>
              <a:t>•  Physical IoT Hardware Deployment: </a:t>
            </a:r>
            <a:r>
              <a:rPr b="0" sz="1050">
                <a:solidFill>
                  <a:srgbClr val="212529"/>
                </a:solidFill>
              </a:rPr>
              <a:t>Porting lightweight anomaly client probes to physical edge devices (Raspberry Pi 4 / NVIDIA Jetson) in an embedded sensor lab testbed.</a:t>
            </a:r>
          </a:p>
          <a:p>
            <a:pPr>
              <a:spcAft>
                <a:spcPts val="500"/>
              </a:spcAft>
              <a:defRPr b="1" sz="1100">
                <a:solidFill>
                  <a:srgbClr val="1E50A0"/>
                </a:solidFill>
              </a:defRPr>
            </a:pPr>
            <a:r>
              <a:t>•  Differential Privacy (DP) Guarantees: </a:t>
            </a:r>
            <a:r>
              <a:rPr b="0" sz="1050">
                <a:solidFill>
                  <a:srgbClr val="212529"/>
                </a:solidFill>
              </a:rPr>
              <a:t>Injecting calibrated Gaussian noise into local tree splits to guarantee mathematical epsilon-differential privacy during model synchronization.</a:t>
            </a:r>
          </a:p>
          <a:p>
            <a:pPr>
              <a:spcAft>
                <a:spcPts val="500"/>
              </a:spcAft>
              <a:defRPr b="1" sz="1100">
                <a:solidFill>
                  <a:srgbClr val="1E50A0"/>
                </a:solidFill>
              </a:defRPr>
            </a:pPr>
            <a:r>
              <a:t>•  Homomorphic Encryption for FedAvg: </a:t>
            </a:r>
            <a:r>
              <a:rPr b="0" sz="1050">
                <a:solidFill>
                  <a:srgbClr val="212529"/>
                </a:solidFill>
              </a:rPr>
              <a:t>Employing the Paillier cryptosystem to aggregate encrypted local Isolation Forest parameters without decryption on the aggregation server.</a:t>
            </a:r>
          </a:p>
          <a:p>
            <a:pPr>
              <a:spcAft>
                <a:spcPts val="500"/>
              </a:spcAft>
              <a:defRPr b="1" sz="1100">
                <a:solidFill>
                  <a:srgbClr val="1E50A0"/>
                </a:solidFill>
              </a:defRPr>
            </a:pPr>
            <a:r>
              <a:t>•  Multi-Tenant Hierarchical FL: </a:t>
            </a:r>
            <a:r>
              <a:rPr b="0" sz="1050">
                <a:solidFill>
                  <a:srgbClr val="212529"/>
                </a:solidFill>
              </a:rPr>
              <a:t>Extending the FedAvg coordinator to support multi-tier hierarchical aggregation across cross-organizational enterprise autonomous systems (AS).</a:t>
            </a:r>
          </a:p>
          <a:p>
            <a:pPr>
              <a:spcAft>
                <a:spcPts val="500"/>
              </a:spcAft>
              <a:defRPr b="1" sz="1100">
                <a:solidFill>
                  <a:srgbClr val="1E50A0"/>
                </a:solidFill>
              </a:defRPr>
            </a:pPr>
            <a:r>
              <a:t>•  Adaptive Contamination Tuning: </a:t>
            </a:r>
            <a:r>
              <a:rPr b="0" sz="1050">
                <a:solidFill>
                  <a:srgbClr val="212529"/>
                </a:solidFill>
              </a:rPr>
              <a:t>Dynamically adjusting local Isolation Forest contamination hyperparameters using rolling real-time traffic entropy.</a:t>
            </a:r>
          </a:p>
        </p:txBody>
      </p:sp>
    </p:spTree>
    <p:extLst>
      <p:ext uri="{BB962C8B-B14F-4D97-AF65-F5344CB8AC3E}">
        <p14:creationId xmlns:p14="http://schemas.microsoft.com/office/powerpoint/2010/main" val="1317498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1EE89F-6F96-DF9C-768A-8B2A7BEAD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 Achieved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65DBCB3-75D0-D33A-66EA-4DDA4A022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400" y="0"/>
          </a:xfrm>
        </p:spPr>
        <p:txBody>
          <a:bodyPr>
            <a:normAutofit fontScale="92500" lnSpcReduction="20000"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F86E621-0A63-DDD2-60A0-511D9D7C8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28-10-2026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4966F66-9685-CC43-3B74-035A03CAF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2234F7B-54B7-5C34-9356-A94BE39E2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13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698480" cy="44348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600"/>
              </a:spcAft>
              <a:defRPr b="1" sz="1450">
                <a:solidFill>
                  <a:srgbClr val="102C57"/>
                </a:solidFill>
              </a:defRPr>
            </a:pPr>
            <a:r>
              <a:t>Review 3 Outcomes &amp; Deliverables Achieved:</a:t>
            </a:r>
          </a:p>
          <a:p>
            <a:pPr>
              <a:spcAft>
                <a:spcPts val="200"/>
              </a:spcAft>
              <a:defRPr b="1" sz="1200">
                <a:solidFill>
                  <a:srgbClr val="1E50A0"/>
                </a:solidFill>
              </a:defRPr>
            </a:pPr>
            <a:r>
              <a:t>1. Research Paper Drafted for Scopus-Indexed Conference / Journal Publication</a:t>
            </a:r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</a:defRPr>
            </a:pPr>
            <a:r>
              <a:t>   • Manuscript Title: 'Explainable Federated Learning Framework for Distributed Network Anomaly Detection with Trust-Weighted Isolation Forests'</a:t>
            </a:r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</a:defRPr>
            </a:pPr>
            <a:r>
              <a:t>   • Authors: Kota Bhanu Prashanth Reddy (23BCE0340), V L Vedhesh (23BCE2134), Dr. Soumyajyoti Dey</a:t>
            </a:r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</a:defRPr>
            </a:pPr>
            <a:r>
              <a:t>   • Target Venue: IEEE International Conference on Cyber Security / Distributed Computing (Scopus Indexed)</a:t>
            </a:r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</a:defRPr>
            </a:pPr>
            <a:r>
              <a:t>   • Status: Full manuscript drafted including formal methodology, mathematical formulation, and experimental benchmarking.</a:t>
            </a:r>
          </a:p>
          <a:p>
            <a:pPr>
              <a:defRPr sz="300"/>
            </a:pPr>
          </a:p>
          <a:p>
            <a:pPr>
              <a:spcAft>
                <a:spcPts val="200"/>
              </a:spcAft>
              <a:defRPr b="1" sz="1200">
                <a:solidFill>
                  <a:srgbClr val="1E50A0"/>
                </a:solidFill>
              </a:defRPr>
            </a:pPr>
            <a:r>
              <a:t>2. Fully Functional Enterprise Software Prototype (Product Development)</a:t>
            </a:r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</a:defRPr>
            </a:pPr>
            <a:r>
              <a:t>   • Delivered a production-ready, 3-tier microservice architecture: React 18 frontend + Spring Boot 3 engine + FastAPI ML service.</a:t>
            </a:r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</a:defRPr>
            </a:pPr>
            <a:r>
              <a:t>   • Interactive SOC Dashboard featuring 16-node topology visualization, 6 live attack profiles, and automated node quarantine.</a:t>
            </a:r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</a:defRPr>
            </a:pPr>
            <a:r>
              <a:t>   • Full-duplex STOMP over SockJS telemetry pipeline delivering sub-second anomaly alerts and dynamic trust adjustments.</a:t>
            </a:r>
          </a:p>
          <a:p>
            <a:pPr>
              <a:defRPr sz="300"/>
            </a:pPr>
          </a:p>
          <a:p>
            <a:pPr>
              <a:spcAft>
                <a:spcPts val="200"/>
              </a:spcAft>
              <a:defRPr b="1" sz="1200">
                <a:solidFill>
                  <a:srgbClr val="1E50A0"/>
                </a:solidFill>
              </a:defRPr>
            </a:pPr>
            <a:r>
              <a:t>3. Outcome Achieved Verification &amp; Portal Submission</a:t>
            </a:r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</a:defRPr>
            </a:pPr>
            <a:r>
              <a:t>   • Proof of project completion, simulation demonstration video, and manuscript draft submitted to the official VIT portal.</a:t>
            </a:r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</a:defRPr>
            </a:pPr>
            <a:r>
              <a:t>   • Portal link verified: https://forms.gle/B9B71VPy5b9bZ9dJ8 (Submitted on or before 27 Oct 2026 as required).</a:t>
            </a:r>
          </a:p>
          <a:p>
            <a:pPr>
              <a:defRPr sz="300"/>
            </a:pPr>
          </a:p>
        </p:txBody>
      </p:sp>
    </p:spTree>
    <p:extLst>
      <p:ext uri="{BB962C8B-B14F-4D97-AF65-F5344CB8AC3E}">
        <p14:creationId xmlns:p14="http://schemas.microsoft.com/office/powerpoint/2010/main" val="4071570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F70E1A0-FA4A-8258-6E10-9F00EDC0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7CFC0C65-61CC-E657-43F7-99C8E53624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xmlns="" id="{CC4F09CD-956A-B8B3-1183-9C28C80DDB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630400" y="1442399"/>
            <a:ext cx="105156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732D3DB-7149-E1E5-D5F9-4FC93A78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28-10-2026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EBCABB1-7C63-52E3-2815-3651AE7E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431EAEC-BCE3-2979-69C6-273309B9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14</a:t>
            </a:fld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10698480" cy="44348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212529"/>
                </a:solidFill>
                <a:latin typeface="Calibri"/>
              </a:defRPr>
            </a:pPr>
            <a:r>
              <a:t>[1] B. McMahan, E. Moore, D. Ramage, S. Hampson, and B. A. y Arcas, "Communication-Efficient Learning of Deep Networks from Decentralized Data," in Proc. 20th Int. Conf. Artificial Intelligence and Statistics (AISTATS), Fort Lauderdale, FL, USA, 2017, pp. 1273-1282.</a:t>
            </a:r>
          </a:p>
          <a:p>
            <a:pPr>
              <a:spcAft>
                <a:spcPts val="500"/>
              </a:spcAft>
              <a:defRPr sz="1000">
                <a:solidFill>
                  <a:srgbClr val="212529"/>
                </a:solidFill>
                <a:latin typeface="Calibri"/>
              </a:defRPr>
            </a:pPr>
            <a:r>
              <a:t>[2] F. T. Liu, K. M. Ting, and Z.-H. Zhou, "Isolation Forest," in Proc. 8th IEEE Int. Conf. Data Mining (ICDM), Pisa, Italy, 2008, pp. 413-422.</a:t>
            </a:r>
          </a:p>
          <a:p>
            <a:pPr>
              <a:spcAft>
                <a:spcPts val="500"/>
              </a:spcAft>
              <a:defRPr sz="1000">
                <a:solidFill>
                  <a:srgbClr val="212529"/>
                </a:solidFill>
                <a:latin typeface="Calibri"/>
              </a:defRPr>
            </a:pPr>
            <a:r>
              <a:t>[3] H.-J. Liao, C.-H. R. Lin, Y.-C. Lin, and K.-Y. Tung, "Intrusion Detection System: A Comprehensive Review," Journal of Network and Computer Applications, vol. 36, no. 1, pp. 16-24, 2013.</a:t>
            </a:r>
          </a:p>
          <a:p>
            <a:pPr>
              <a:spcAft>
                <a:spcPts val="500"/>
              </a:spcAft>
              <a:defRPr sz="1000">
                <a:solidFill>
                  <a:srgbClr val="212529"/>
                </a:solidFill>
                <a:latin typeface="Calibri"/>
              </a:defRPr>
            </a:pPr>
            <a:r>
              <a:t>[4] V. Mothukuri, R. M. Parizi, S. Pouriyeh, Y. Huang, A. Dehghantanha, and G. Srivastava, "A Survey on Security and Privacy of Federated Learning," Future Generation Computer Systems, vol. 115, pp. 619-640, 2021.</a:t>
            </a:r>
          </a:p>
          <a:p>
            <a:pPr>
              <a:spcAft>
                <a:spcPts val="500"/>
              </a:spcAft>
              <a:defRPr sz="1000">
                <a:solidFill>
                  <a:srgbClr val="212529"/>
                </a:solidFill>
                <a:latin typeface="Calibri"/>
              </a:defRPr>
            </a:pPr>
            <a:r>
              <a:t>[5] A. B. Arrieta et al., "Explainable Artificial Intelligence (XAI): Concepts, Taxonomies, Opportunities and Challenges toward Responsible AI," Information Fusion, vol. 58, pp. 82-115, 2020.</a:t>
            </a:r>
          </a:p>
          <a:p>
            <a:pPr>
              <a:spcAft>
                <a:spcPts val="500"/>
              </a:spcAft>
              <a:defRPr sz="1000">
                <a:solidFill>
                  <a:srgbClr val="212529"/>
                </a:solidFill>
                <a:latin typeface="Calibri"/>
              </a:defRPr>
            </a:pPr>
            <a:r>
              <a:t>[6] E. Bagdasaryan, A. Veit, Y. Hua, D. Estrin, and V. Shmatikov, "How To Back Door Federated Learning," in Proc. 23rd Int. Conf. Artificial Intelligence and Statistics (AISTATS), 2020, pp. 2938-2948.</a:t>
            </a:r>
          </a:p>
          <a:p>
            <a:pPr>
              <a:spcAft>
                <a:spcPts val="500"/>
              </a:spcAft>
              <a:defRPr sz="1000">
                <a:solidFill>
                  <a:srgbClr val="212529"/>
                </a:solidFill>
                <a:latin typeface="Calibri"/>
              </a:defRPr>
            </a:pPr>
            <a:r>
              <a:t>[7] I. Sharafaldin, A. H. Lashkari, and A. A. Ghorbani, "Toward Generating a New Intrusion Detection Dataset and Intrusion Traffic Characterization," in Proc. 4th Int. Conf. Information Systems Security and Privacy (ICISSP), 2018, pp. 108-116.</a:t>
            </a:r>
          </a:p>
          <a:p>
            <a:pPr>
              <a:spcAft>
                <a:spcPts val="500"/>
              </a:spcAft>
              <a:defRPr sz="1000">
                <a:solidFill>
                  <a:srgbClr val="212529"/>
                </a:solidFill>
                <a:latin typeface="Calibri"/>
              </a:defRPr>
            </a:pPr>
            <a:r>
              <a:t>[8] I. Fette and A. Melnikov, "The WebSocket Protocol," Internet Engineering Task Force (IETF) RFC 6455, Dec. 2011.</a:t>
            </a:r>
          </a:p>
        </p:txBody>
      </p:sp>
    </p:spTree>
    <p:extLst>
      <p:ext uri="{BB962C8B-B14F-4D97-AF65-F5344CB8AC3E}">
        <p14:creationId xmlns:p14="http://schemas.microsoft.com/office/powerpoint/2010/main" val="3510526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376</Words>
  <Application>Microsoft Macintosh PowerPoint</Application>
  <PresentationFormat>Custom</PresentationFormat>
  <Paragraphs>98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&lt;&lt;Programme B.Tech/ M.Tech Course Code – Course Title&gt;&gt; &lt;&lt;Project Title&gt;&gt;</vt:lpstr>
      <vt:lpstr>Approval Mail From Guide</vt:lpstr>
      <vt:lpstr>Aim</vt:lpstr>
      <vt:lpstr>Abstract</vt:lpstr>
      <vt:lpstr>Literature Review</vt:lpstr>
      <vt:lpstr>Research Gap</vt:lpstr>
      <vt:lpstr>Objectives</vt:lpstr>
      <vt:lpstr>Framework/Architecture/Block Diagram</vt:lpstr>
      <vt:lpstr>Functional Requirements</vt:lpstr>
      <vt:lpstr>Modules</vt:lpstr>
      <vt:lpstr>Experiments and Results</vt:lpstr>
      <vt:lpstr>Conclusion and Future Work</vt:lpstr>
      <vt:lpstr>Outcome Achieved</vt:lpstr>
      <vt:lpstr>References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&lt;&lt;Programme B.Tech/ M.Tech Course Code – Course Title&gt;&gt; &lt;&lt;Project Title&gt;&gt;</dc:title>
  <dc:creator>Parthasarathy G</dc:creator>
  <cp:lastModifiedBy>Prakash Mohan</cp:lastModifiedBy>
  <cp:revision>12</cp:revision>
  <dcterms:created xsi:type="dcterms:W3CDTF">2026-07-14T06:00:41Z</dcterms:created>
  <dcterms:modified xsi:type="dcterms:W3CDTF">2026-10-05T06:25:49Z</dcterms:modified>
</cp:coreProperties>
</file>